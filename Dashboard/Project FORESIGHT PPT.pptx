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0" r:id="rId1"/>
  </p:sldMasterIdLst>
  <p:notesMasterIdLst>
    <p:notesMasterId r:id="rId23"/>
  </p:notesMasterIdLst>
  <p:sldIdLst>
    <p:sldId id="259" r:id="rId2"/>
    <p:sldId id="261" r:id="rId3"/>
    <p:sldId id="282" r:id="rId4"/>
    <p:sldId id="262" r:id="rId5"/>
    <p:sldId id="263" r:id="rId6"/>
    <p:sldId id="265" r:id="rId7"/>
    <p:sldId id="267" r:id="rId8"/>
    <p:sldId id="268" r:id="rId9"/>
    <p:sldId id="269" r:id="rId10"/>
    <p:sldId id="270" r:id="rId11"/>
    <p:sldId id="271" r:id="rId12"/>
    <p:sldId id="274" r:id="rId13"/>
    <p:sldId id="272" r:id="rId14"/>
    <p:sldId id="273" r:id="rId15"/>
    <p:sldId id="275" r:id="rId16"/>
    <p:sldId id="276" r:id="rId17"/>
    <p:sldId id="277" r:id="rId18"/>
    <p:sldId id="278" r:id="rId19"/>
    <p:sldId id="279" r:id="rId20"/>
    <p:sldId id="287" r:id="rId21"/>
    <p:sldId id="280" r:id="rId22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(₹M)</c:v>
                </c:pt>
              </c:strCache>
            </c:strRef>
          </c:tx>
          <c:spPr>
            <a:ln w="31750" cap="flat">
              <a:solidFill>
                <a:srgbClr val="6C5CE7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6C5CE7"/>
              </a:solidFill>
              <a:ln w="9525" cap="flat">
                <a:solidFill>
                  <a:srgbClr val="6C5CE7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5A5F73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</c:v>
                </c:pt>
                <c:pt idx="1">
                  <c:v>112</c:v>
                </c:pt>
                <c:pt idx="2">
                  <c:v>118</c:v>
                </c:pt>
                <c:pt idx="3">
                  <c:v>122</c:v>
                </c:pt>
                <c:pt idx="4">
                  <c:v>148</c:v>
                </c:pt>
                <c:pt idx="5">
                  <c:v>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7BA-462A-A5A6-FF0CD4FBCA15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3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6C5CE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A988-4E19-AA28-A221DD6C40A5}"/>
              </c:ext>
            </c:extLst>
          </c:dPt>
          <c:dPt>
            <c:idx val="1"/>
            <c:invertIfNegative val="0"/>
            <c:bubble3D val="0"/>
            <c:spPr>
              <a:solidFill>
                <a:srgbClr val="F2A9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A988-4E19-AA28-A221DD6C40A5}"/>
              </c:ext>
            </c:extLst>
          </c:dPt>
          <c:dPt>
            <c:idx val="2"/>
            <c:invertIfNegative val="0"/>
            <c:bubble3D val="0"/>
            <c:spPr>
              <a:solidFill>
                <a:srgbClr val="2FB8A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A988-4E19-AA28-A221DD6C40A5}"/>
              </c:ext>
            </c:extLst>
          </c:dPt>
          <c:dLbls>
            <c:numFmt formatCode="0.00&quot;bn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5A5F7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Furniture</c:v>
                </c:pt>
                <c:pt idx="1">
                  <c:v>Small Appl.</c:v>
                </c:pt>
                <c:pt idx="2">
                  <c:v>Decor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0.48</c:v>
                </c:pt>
                <c:pt idx="1">
                  <c:v>7.0000000000000007E-2</c:v>
                </c:pt>
                <c:pt idx="2">
                  <c:v>7.0000000000000007E-2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A988-4E19-AA28-A221DD6C40A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3F0"/>
              </a:solidFill>
              <a:prstDash val="solid"/>
              <a:round/>
            </a:ln>
          </c:spPr>
        </c:majorGridlines>
        <c:numFmt formatCode="0.0&quot;bn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C5CE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1D4-44A7-96FF-77541EEAE2C1}"/>
              </c:ext>
            </c:extLst>
          </c:dPt>
          <c:dPt>
            <c:idx val="1"/>
            <c:bubble3D val="0"/>
            <c:spPr>
              <a:solidFill>
                <a:srgbClr val="F2A9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1D4-44A7-96FF-77541EEAE2C1}"/>
              </c:ext>
            </c:extLst>
          </c:dPt>
          <c:dPt>
            <c:idx val="2"/>
            <c:bubble3D val="0"/>
            <c:spPr>
              <a:solidFill>
                <a:srgbClr val="E860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1D4-44A7-96FF-77541EEAE2C1}"/>
              </c:ext>
            </c:extLst>
          </c:dPt>
          <c:dPt>
            <c:idx val="3"/>
            <c:bubble3D val="0"/>
            <c:spPr>
              <a:solidFill>
                <a:srgbClr val="2FB8A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1D4-44A7-96FF-77541EEAE2C1}"/>
              </c:ext>
            </c:extLst>
          </c:dPt>
          <c:dLbls>
            <c:dLbl>
              <c:idx val="0"/>
              <c:layout/>
              <c:numFmt formatCode="0.0%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41D4-44A7-96FF-77541EEAE2C1}"/>
                </c:ext>
              </c:extLst>
            </c:dLbl>
            <c:dLbl>
              <c:idx val="1"/>
              <c:layout/>
              <c:numFmt formatCode="0.0%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41D4-44A7-96FF-77541EEAE2C1}"/>
                </c:ext>
              </c:extLst>
            </c:dLbl>
            <c:dLbl>
              <c:idx val="2"/>
              <c:layout/>
              <c:numFmt formatCode="0.0%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41D4-44A7-96FF-77541EEAE2C1}"/>
                </c:ext>
              </c:extLst>
            </c:dLbl>
            <c:dLbl>
              <c:idx val="3"/>
              <c:layout/>
              <c:numFmt formatCode="0.0%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41D4-44A7-96FF-77541EEAE2C1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West</c:v>
                </c:pt>
                <c:pt idx="3">
                  <c:v>South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155</c:v>
                </c:pt>
                <c:pt idx="1">
                  <c:v>154</c:v>
                </c:pt>
                <c:pt idx="2">
                  <c:v>154</c:v>
                </c:pt>
                <c:pt idx="3">
                  <c:v>154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1D4-44A7-96FF-77541EEAE2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5A5F7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6C5CE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506D-4015-AABA-45DA8C244504}"/>
              </c:ext>
            </c:extLst>
          </c:dPt>
          <c:dPt>
            <c:idx val="1"/>
            <c:invertIfNegative val="0"/>
            <c:bubble3D val="0"/>
            <c:spPr>
              <a:solidFill>
                <a:srgbClr val="2FB8A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506D-4015-AABA-45DA8C244504}"/>
              </c:ext>
            </c:extLst>
          </c:dPt>
          <c:dPt>
            <c:idx val="2"/>
            <c:invertIfNegative val="0"/>
            <c:bubble3D val="0"/>
            <c:spPr>
              <a:solidFill>
                <a:srgbClr val="F2A9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506D-4015-AABA-45DA8C244504}"/>
              </c:ext>
            </c:extLst>
          </c:dPt>
          <c:dLbls>
            <c:numFmt formatCode="0.00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5A5F7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Furniture</c:v>
                </c:pt>
                <c:pt idx="1">
                  <c:v>Decor</c:v>
                </c:pt>
                <c:pt idx="2">
                  <c:v>Small Appl.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0.88</c:v>
                </c:pt>
                <c:pt idx="1">
                  <c:v>0.73</c:v>
                </c:pt>
                <c:pt idx="2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06D-4015-AABA-45DA8C24450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1E3F0"/>
              </a:solidFill>
              <a:prstDash val="solid"/>
              <a:round/>
            </a:ln>
          </c:spPr>
        </c:majorGridlines>
        <c:numFmt formatCode="0.0&quot;M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 Sold (M)</c:v>
                </c:pt>
              </c:strCache>
            </c:strRef>
          </c:tx>
          <c:spPr>
            <a:solidFill>
              <a:srgbClr val="6C5CE7"/>
            </a:solidFill>
            <a:effectLst/>
          </c:spPr>
          <c:invertIfNegative val="0"/>
          <c:dLbls>
            <c:numFmt formatCode="0.00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5A5F7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0.13</c:v>
                </c:pt>
                <c:pt idx="1">
                  <c:v>0.28000000000000003</c:v>
                </c:pt>
                <c:pt idx="2">
                  <c:v>0.45</c:v>
                </c:pt>
                <c:pt idx="3">
                  <c:v>0.38</c:v>
                </c:pt>
                <c:pt idx="4">
                  <c:v>0.35</c:v>
                </c:pt>
                <c:pt idx="5">
                  <c:v>0.41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6E-46D5-8C98-90D38A6FFFE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3F0"/>
              </a:solidFill>
              <a:prstDash val="solid"/>
              <a:round/>
            </a:ln>
          </c:spPr>
        </c:majorGridlines>
        <c:numFmt formatCode="0.0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Revenue (₹)</c:v>
                </c:pt>
              </c:strCache>
            </c:strRef>
          </c:tx>
          <c:spPr>
            <a:solidFill>
              <a:srgbClr val="2FB8A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5A5F7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  <c:pt idx="8">
                  <c:v>W9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2479</c:v>
                </c:pt>
                <c:pt idx="1">
                  <c:v>1524</c:v>
                </c:pt>
                <c:pt idx="2">
                  <c:v>2548</c:v>
                </c:pt>
                <c:pt idx="3">
                  <c:v>1166</c:v>
                </c:pt>
                <c:pt idx="4">
                  <c:v>1405</c:v>
                </c:pt>
                <c:pt idx="5">
                  <c:v>2184</c:v>
                </c:pt>
                <c:pt idx="6">
                  <c:v>1297</c:v>
                </c:pt>
                <c:pt idx="7">
                  <c:v>2270</c:v>
                </c:pt>
                <c:pt idx="8">
                  <c:v>2133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EB-4899-B823-8A422811F1B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3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(₹M)</c:v>
                </c:pt>
              </c:strCache>
            </c:strRef>
          </c:tx>
          <c:spPr>
            <a:ln w="31750" cap="flat">
              <a:solidFill>
                <a:srgbClr val="F2A93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F2A93B"/>
              </a:solidFill>
              <a:ln w="9525" cap="flat">
                <a:solidFill>
                  <a:srgbClr val="F2A93B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57.5</c:v>
                </c:pt>
                <c:pt idx="1">
                  <c:v>54.4</c:v>
                </c:pt>
                <c:pt idx="2">
                  <c:v>59.5</c:v>
                </c:pt>
                <c:pt idx="3">
                  <c:v>41.3</c:v>
                </c:pt>
                <c:pt idx="4">
                  <c:v>43.6</c:v>
                </c:pt>
                <c:pt idx="5">
                  <c:v>52.7</c:v>
                </c:pt>
                <c:pt idx="6">
                  <c:v>56.9</c:v>
                </c:pt>
                <c:pt idx="7">
                  <c:v>49.8</c:v>
                </c:pt>
                <c:pt idx="8">
                  <c:v>48.1</c:v>
                </c:pt>
                <c:pt idx="9">
                  <c:v>48.2</c:v>
                </c:pt>
                <c:pt idx="10">
                  <c:v>54.6</c:v>
                </c:pt>
                <c:pt idx="11">
                  <c:v>50.1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97B-42B6-9A9D-6E3DD357C3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3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Price</c:v>
                </c:pt>
              </c:strCache>
            </c:strRef>
          </c:tx>
          <c:spPr>
            <a:solidFill>
              <a:srgbClr val="6C5CE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6FFF-4279-B271-FF9E7E936593}"/>
              </c:ext>
            </c:extLst>
          </c:dPt>
          <c:dPt>
            <c:idx val="1"/>
            <c:invertIfNegative val="0"/>
            <c:bubble3D val="0"/>
            <c:spPr>
              <a:solidFill>
                <a:srgbClr val="F2A9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6FFF-4279-B271-FF9E7E936593}"/>
              </c:ext>
            </c:extLst>
          </c:dPt>
          <c:dPt>
            <c:idx val="2"/>
            <c:invertIfNegative val="0"/>
            <c:bubble3D val="0"/>
            <c:spPr>
              <a:solidFill>
                <a:srgbClr val="2FB8A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6FFF-4279-B271-FF9E7E93659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5A5F7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Furniture</c:v>
                </c:pt>
                <c:pt idx="1">
                  <c:v>Small Appl.</c:v>
                </c:pt>
                <c:pt idx="2">
                  <c:v>Decor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544</c:v>
                </c:pt>
                <c:pt idx="1">
                  <c:v>174</c:v>
                </c:pt>
                <c:pt idx="2">
                  <c:v>102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FFF-4279-B271-FF9E7E93659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1E3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6C5CE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9241-426E-889E-A25F32BB594B}"/>
              </c:ext>
            </c:extLst>
          </c:dPt>
          <c:dPt>
            <c:idx val="1"/>
            <c:invertIfNegative val="0"/>
            <c:bubble3D val="0"/>
            <c:spPr>
              <a:solidFill>
                <a:srgbClr val="2FB8A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9241-426E-889E-A25F32BB594B}"/>
              </c:ext>
            </c:extLst>
          </c:dPt>
          <c:dPt>
            <c:idx val="2"/>
            <c:invertIfNegative val="0"/>
            <c:bubble3D val="0"/>
            <c:spPr>
              <a:solidFill>
                <a:srgbClr val="F2A9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9241-426E-889E-A25F32BB594B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5A5F7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Furniture</c:v>
                </c:pt>
                <c:pt idx="1">
                  <c:v>Decor</c:v>
                </c:pt>
                <c:pt idx="2">
                  <c:v>Small Appl.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0.88</c:v>
                </c:pt>
                <c:pt idx="1">
                  <c:v>0.73</c:v>
                </c:pt>
                <c:pt idx="2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241-426E-889E-A25F32BB594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3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6C5CE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FDB7-48D8-855D-65DE7ACDB6AE}"/>
              </c:ext>
            </c:extLst>
          </c:dPt>
          <c:dPt>
            <c:idx val="1"/>
            <c:invertIfNegative val="0"/>
            <c:bubble3D val="0"/>
            <c:spPr>
              <a:solidFill>
                <a:srgbClr val="F2A9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FDB7-48D8-855D-65DE7ACDB6AE}"/>
              </c:ext>
            </c:extLst>
          </c:dPt>
          <c:dPt>
            <c:idx val="2"/>
            <c:invertIfNegative val="0"/>
            <c:bubble3D val="0"/>
            <c:spPr>
              <a:solidFill>
                <a:srgbClr val="2FB8A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FDB7-48D8-855D-65DE7ACDB6AE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5A5F7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Furniture</c:v>
                </c:pt>
                <c:pt idx="1">
                  <c:v>Small Appl.</c:v>
                </c:pt>
                <c:pt idx="2">
                  <c:v>Decor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0.48</c:v>
                </c:pt>
                <c:pt idx="1">
                  <c:v>7.0000000000000007E-2</c:v>
                </c:pt>
                <c:pt idx="2">
                  <c:v>7.0000000000000007E-2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DB7-48D8-855D-65DE7ACDB6A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3F0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Season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C5CE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600-49F8-A2EC-DE26DE227708}"/>
              </c:ext>
            </c:extLst>
          </c:dPt>
          <c:dPt>
            <c:idx val="1"/>
            <c:bubble3D val="0"/>
            <c:spPr>
              <a:solidFill>
                <a:srgbClr val="F2A9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600-49F8-A2EC-DE26DE227708}"/>
              </c:ext>
            </c:extLst>
          </c:dPt>
          <c:dPt>
            <c:idx val="2"/>
            <c:bubble3D val="0"/>
            <c:spPr>
              <a:solidFill>
                <a:srgbClr val="2FB8A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600-49F8-A2EC-DE26DE227708}"/>
              </c:ext>
            </c:extLst>
          </c:dPt>
          <c:dPt>
            <c:idx val="3"/>
            <c:bubble3D val="0"/>
            <c:spPr>
              <a:solidFill>
                <a:srgbClr val="E860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600-49F8-A2EC-DE26DE22770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600-49F8-A2EC-DE26DE22770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600-49F8-A2EC-DE26DE227708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600-49F8-A2EC-DE26DE227708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600-49F8-A2EC-DE26DE22770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Spring</c:v>
                </c:pt>
                <c:pt idx="1">
                  <c:v>Summer</c:v>
                </c:pt>
                <c:pt idx="2">
                  <c:v>Fall</c:v>
                </c:pt>
                <c:pt idx="3">
                  <c:v>Winter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</c:v>
                </c:pt>
                <c:pt idx="1">
                  <c:v>91.8</c:v>
                </c:pt>
                <c:pt idx="2">
                  <c:v>91</c:v>
                </c:pt>
                <c:pt idx="3">
                  <c:v>90.2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600-49F8-A2EC-DE26DE2277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5A5F7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(₹M)</c:v>
                </c:pt>
              </c:strCache>
            </c:strRef>
          </c:tx>
          <c:spPr>
            <a:solidFill>
              <a:srgbClr val="6C5CE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5A5F7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Tables</c:v>
                </c:pt>
                <c:pt idx="1">
                  <c:v>Chairs</c:v>
                </c:pt>
                <c:pt idx="2">
                  <c:v>Storage</c:v>
                </c:pt>
                <c:pt idx="3">
                  <c:v>Outdoor Furniture</c:v>
                </c:pt>
                <c:pt idx="4">
                  <c:v>Sofas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</c:v>
                </c:pt>
                <c:pt idx="1">
                  <c:v>91</c:v>
                </c:pt>
                <c:pt idx="2">
                  <c:v>93</c:v>
                </c:pt>
                <c:pt idx="3">
                  <c:v>114</c:v>
                </c:pt>
                <c:pt idx="4">
                  <c:v>123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C51-4DDA-9E2B-4846F192CCA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1E3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C5CE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8BB-4017-AF12-E1DD1FC7F9F3}"/>
              </c:ext>
            </c:extLst>
          </c:dPt>
          <c:dPt>
            <c:idx val="1"/>
            <c:bubble3D val="0"/>
            <c:spPr>
              <a:solidFill>
                <a:srgbClr val="F2A9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8BB-4017-AF12-E1DD1FC7F9F3}"/>
              </c:ext>
            </c:extLst>
          </c:dPt>
          <c:dPt>
            <c:idx val="2"/>
            <c:bubble3D val="0"/>
            <c:spPr>
              <a:solidFill>
                <a:srgbClr val="2FB8A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8BB-4017-AF12-E1DD1FC7F9F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8BB-4017-AF12-E1DD1FC7F9F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8BB-4017-AF12-E1DD1FC7F9F3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8BB-4017-AF12-E1DD1FC7F9F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Furniture</c:v>
                </c:pt>
                <c:pt idx="1">
                  <c:v>Small Appliances</c:v>
                </c:pt>
                <c:pt idx="2">
                  <c:v>Decor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481.45</c:v>
                </c:pt>
                <c:pt idx="1">
                  <c:v>69.709999999999994</c:v>
                </c:pt>
                <c:pt idx="2">
                  <c:v>65.489999999999995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8BB-4017-AF12-E1DD1FC7F9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5A5F7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(₹M)</c:v>
                </c:pt>
              </c:strCache>
            </c:strRef>
          </c:tx>
          <c:spPr>
            <a:solidFill>
              <a:srgbClr val="6C5CE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7DC1-4A57-9194-4578F9E68F5B}"/>
              </c:ext>
            </c:extLst>
          </c:dPt>
          <c:dPt>
            <c:idx val="1"/>
            <c:invertIfNegative val="0"/>
            <c:bubble3D val="0"/>
            <c:spPr>
              <a:solidFill>
                <a:srgbClr val="F2A9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7DC1-4A57-9194-4578F9E68F5B}"/>
              </c:ext>
            </c:extLst>
          </c:dPt>
          <c:dPt>
            <c:idx val="2"/>
            <c:invertIfNegative val="0"/>
            <c:bubble3D val="0"/>
            <c:spPr>
              <a:solidFill>
                <a:srgbClr val="E860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7DC1-4A57-9194-4578F9E68F5B}"/>
              </c:ext>
            </c:extLst>
          </c:dPt>
          <c:dPt>
            <c:idx val="3"/>
            <c:invertIfNegative val="0"/>
            <c:bubble3D val="0"/>
            <c:spPr>
              <a:solidFill>
                <a:srgbClr val="2FB8A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7DC1-4A57-9194-4578F9E68F5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5A5F7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West</c:v>
                </c:pt>
                <c:pt idx="3">
                  <c:v>South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155</c:v>
                </c:pt>
                <c:pt idx="1">
                  <c:v>154</c:v>
                </c:pt>
                <c:pt idx="2">
                  <c:v>154</c:v>
                </c:pt>
                <c:pt idx="3">
                  <c:v>154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7DC1-4A57-9194-4578F9E68F5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0"/>
          <c:min val="0"/>
        </c:scaling>
        <c:delete val="0"/>
        <c:axPos val="l"/>
        <c:majorGridlines>
          <c:spPr>
            <a:ln w="9525" cap="flat">
              <a:solidFill>
                <a:srgbClr val="E1E3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Units Sold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C5CE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FD3-4D42-B063-3DABA92D1884}"/>
              </c:ext>
            </c:extLst>
          </c:dPt>
          <c:dPt>
            <c:idx val="1"/>
            <c:bubble3D val="0"/>
            <c:spPr>
              <a:solidFill>
                <a:srgbClr val="E860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FD3-4D42-B063-3DABA92D1884}"/>
              </c:ext>
            </c:extLst>
          </c:dPt>
          <c:dPt>
            <c:idx val="2"/>
            <c:bubble3D val="0"/>
            <c:spPr>
              <a:solidFill>
                <a:srgbClr val="F2A9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FD3-4D42-B063-3DABA92D1884}"/>
              </c:ext>
            </c:extLst>
          </c:dPt>
          <c:dPt>
            <c:idx val="3"/>
            <c:bubble3D val="0"/>
            <c:spPr>
              <a:solidFill>
                <a:srgbClr val="2FB8A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FD3-4D42-B063-3DABA92D1884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FD3-4D42-B063-3DABA92D1884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FD3-4D42-B063-3DABA92D1884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FD3-4D42-B063-3DABA92D1884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FD3-4D42-B063-3DABA92D188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East</c:v>
                </c:pt>
                <c:pt idx="1">
                  <c:v>West</c:v>
                </c:pt>
                <c:pt idx="2">
                  <c:v>North</c:v>
                </c:pt>
                <c:pt idx="3">
                  <c:v>South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503</c:v>
                </c:pt>
                <c:pt idx="1">
                  <c:v>503</c:v>
                </c:pt>
                <c:pt idx="2">
                  <c:v>502</c:v>
                </c:pt>
                <c:pt idx="3">
                  <c:v>501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FD3-4D42-B063-3DABA92D18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5A5F7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East</c:v>
                </c:pt>
              </c:strCache>
            </c:strRef>
          </c:tx>
          <c:spPr>
            <a:solidFill>
              <a:srgbClr val="6C5CE7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Furniture</c:v>
                </c:pt>
                <c:pt idx="1">
                  <c:v>Small Appliances</c:v>
                </c:pt>
                <c:pt idx="2">
                  <c:v>Decor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121</c:v>
                </c:pt>
                <c:pt idx="1">
                  <c:v>18</c:v>
                </c:pt>
                <c:pt idx="2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D6-4109-95D8-FCC5A257A08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North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Furniture</c:v>
                </c:pt>
                <c:pt idx="1">
                  <c:v>Small Appliances</c:v>
                </c:pt>
                <c:pt idx="2">
                  <c:v>Decor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121</c:v>
                </c:pt>
                <c:pt idx="1">
                  <c:v>17</c:v>
                </c:pt>
                <c:pt idx="2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ED6-4109-95D8-FCC5A257A08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South</c:v>
                </c:pt>
              </c:strCache>
            </c:strRef>
          </c:tx>
          <c:spPr>
            <a:solidFill>
              <a:srgbClr val="2FB8AC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Furniture</c:v>
                </c:pt>
                <c:pt idx="1">
                  <c:v>Small Appliances</c:v>
                </c:pt>
                <c:pt idx="2">
                  <c:v>Decor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120</c:v>
                </c:pt>
                <c:pt idx="1">
                  <c:v>17</c:v>
                </c:pt>
                <c:pt idx="2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ED6-4109-95D8-FCC5A257A08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West</c:v>
                </c:pt>
              </c:strCache>
            </c:strRef>
          </c:tx>
          <c:spPr>
            <a:solidFill>
              <a:srgbClr val="E8607B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Furniture</c:v>
                </c:pt>
                <c:pt idx="1">
                  <c:v>Small Appliances</c:v>
                </c:pt>
                <c:pt idx="2">
                  <c:v>Decor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120</c:v>
                </c:pt>
                <c:pt idx="1">
                  <c:v>17</c:v>
                </c:pt>
                <c:pt idx="2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ED6-4109-95D8-FCC5A257A0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3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5F7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6C5CE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5A5F7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Fall</c:v>
                </c:pt>
                <c:pt idx="1">
                  <c:v>Winter</c:v>
                </c:pt>
                <c:pt idx="2">
                  <c:v>Spring</c:v>
                </c:pt>
                <c:pt idx="3">
                  <c:v>Summer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164</c:v>
                </c:pt>
                <c:pt idx="1">
                  <c:v>162</c:v>
                </c:pt>
                <c:pt idx="2">
                  <c:v>158</c:v>
                </c:pt>
                <c:pt idx="3">
                  <c:v>133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18-4B5A-A9DD-3DD443B81F0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3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Decor</c:v>
                </c:pt>
              </c:strCache>
            </c:strRef>
          </c:tx>
          <c:spPr>
            <a:solidFill>
              <a:srgbClr val="2FB8AC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Fall</c:v>
                </c:pt>
                <c:pt idx="1">
                  <c:v>Spring</c:v>
                </c:pt>
                <c:pt idx="2">
                  <c:v>Winter</c:v>
                </c:pt>
                <c:pt idx="3">
                  <c:v>Summer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34.049999999999997</c:v>
                </c:pt>
                <c:pt idx="1">
                  <c:v>37.83</c:v>
                </c:pt>
                <c:pt idx="2">
                  <c:v>34.82</c:v>
                </c:pt>
                <c:pt idx="3">
                  <c:v>39.340000000000003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DD-4D9C-919A-2A0D3DA2101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Furniture</c:v>
                </c:pt>
              </c:strCache>
            </c:strRef>
          </c:tx>
          <c:spPr>
            <a:solidFill>
              <a:srgbClr val="6C5CE7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Fall</c:v>
                </c:pt>
                <c:pt idx="1">
                  <c:v>Spring</c:v>
                </c:pt>
                <c:pt idx="2">
                  <c:v>Winter</c:v>
                </c:pt>
                <c:pt idx="3">
                  <c:v>Summer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45.54</c:v>
                </c:pt>
                <c:pt idx="1">
                  <c:v>42.64</c:v>
                </c:pt>
                <c:pt idx="2">
                  <c:v>46.2</c:v>
                </c:pt>
                <c:pt idx="3">
                  <c:v>40.479999999999997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5DD-4D9C-919A-2A0D3DA2101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Small Appl.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Fall</c:v>
                </c:pt>
                <c:pt idx="1">
                  <c:v>Spring</c:v>
                </c:pt>
                <c:pt idx="2">
                  <c:v>Winter</c:v>
                </c:pt>
                <c:pt idx="3">
                  <c:v>Summer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20.41</c:v>
                </c:pt>
                <c:pt idx="1">
                  <c:v>19.53</c:v>
                </c:pt>
                <c:pt idx="2">
                  <c:v>18.989999999999998</c:v>
                </c:pt>
                <c:pt idx="3">
                  <c:v>20.18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5DD-4D9C-919A-2A0D3DA210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3F0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A5F7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6C5CE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5215-44CE-B4A5-761BCCBE9EA3}"/>
              </c:ext>
            </c:extLst>
          </c:dPt>
          <c:dPt>
            <c:idx val="1"/>
            <c:invertIfNegative val="0"/>
            <c:bubble3D val="0"/>
            <c:spPr>
              <a:solidFill>
                <a:srgbClr val="F2A9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5215-44CE-B4A5-761BCCBE9EA3}"/>
              </c:ext>
            </c:extLst>
          </c:dPt>
          <c:dLbls>
            <c:numFmt formatCode="0.00&quot;bn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5A5F7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 Promotion Recorded</c:v>
                </c:pt>
                <c:pt idx="1">
                  <c:v>Unknown / Named Promo Events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0.4</c:v>
                </c:pt>
                <c:pt idx="1">
                  <c:v>0.12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215-44CE-B4A5-761BCCBE9EA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1E3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Not Promoted</c:v>
                </c:pt>
              </c:strCache>
            </c:strRef>
          </c:tx>
          <c:spPr>
            <a:solidFill>
              <a:srgbClr val="9FA6C8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Furniture</c:v>
                </c:pt>
                <c:pt idx="1">
                  <c:v>Small Appliances</c:v>
                </c:pt>
                <c:pt idx="2">
                  <c:v>Decor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37.06</c:v>
                </c:pt>
                <c:pt idx="1">
                  <c:v>35.06</c:v>
                </c:pt>
                <c:pt idx="2">
                  <c:v>36.94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00-422A-A619-71C99E653E0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Promoted</c:v>
                </c:pt>
              </c:strCache>
            </c:strRef>
          </c:tx>
          <c:spPr>
            <a:solidFill>
              <a:srgbClr val="6C5CE7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Furniture</c:v>
                </c:pt>
                <c:pt idx="1">
                  <c:v>Small Appliances</c:v>
                </c:pt>
                <c:pt idx="2">
                  <c:v>Decor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62.94</c:v>
                </c:pt>
                <c:pt idx="1">
                  <c:v>64.94</c:v>
                </c:pt>
                <c:pt idx="2">
                  <c:v>63.06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800-422A-A619-71C99E653E0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3F0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A5F7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Discount %</c:v>
                </c:pt>
              </c:strCache>
            </c:strRef>
          </c:tx>
          <c:spPr>
            <a:solidFill>
              <a:srgbClr val="6C5CE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453B-48D9-AB6E-3B314FE45BF5}"/>
              </c:ext>
            </c:extLst>
          </c:dPt>
          <c:dPt>
            <c:idx val="1"/>
            <c:invertIfNegative val="0"/>
            <c:bubble3D val="0"/>
            <c:spPr>
              <a:solidFill>
                <a:srgbClr val="2FB8A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453B-48D9-AB6E-3B314FE45BF5}"/>
              </c:ext>
            </c:extLst>
          </c:dPt>
          <c:dPt>
            <c:idx val="2"/>
            <c:invertIfNegative val="0"/>
            <c:bubble3D val="0"/>
            <c:spPr>
              <a:solidFill>
                <a:srgbClr val="F2A9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453B-48D9-AB6E-3B314FE45BF5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5A5F7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Furniture</c:v>
                </c:pt>
                <c:pt idx="1">
                  <c:v>Decor</c:v>
                </c:pt>
                <c:pt idx="2">
                  <c:v>Small Appliances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38.299999999999997</c:v>
                </c:pt>
                <c:pt idx="1">
                  <c:v>31.48</c:v>
                </c:pt>
                <c:pt idx="2">
                  <c:v>30.22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53B-48D9-AB6E-3B314FE45BF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3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Unit Price (₹)</c:v>
                </c:pt>
              </c:strCache>
            </c:strRef>
          </c:tx>
          <c:spPr>
            <a:ln w="31750" cap="flat">
              <a:solidFill>
                <a:srgbClr val="2FB8AC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FB8AC"/>
              </a:solidFill>
              <a:ln w="9525" cap="flat">
                <a:solidFill>
                  <a:srgbClr val="2FB8AC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5A5F73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302.5</c:v>
                </c:pt>
                <c:pt idx="1">
                  <c:v>306.39999999999998</c:v>
                </c:pt>
                <c:pt idx="2">
                  <c:v>304.89999999999998</c:v>
                </c:pt>
                <c:pt idx="3">
                  <c:v>304.89999999999998</c:v>
                </c:pt>
                <c:pt idx="4">
                  <c:v>305</c:v>
                </c:pt>
                <c:pt idx="5">
                  <c:v>304.89999999999998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8B2-497D-991E-C578A9D683FA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10"/>
          <c:min val="295"/>
        </c:scaling>
        <c:delete val="0"/>
        <c:axPos val="l"/>
        <c:majorGridlines>
          <c:spPr>
            <a:ln w="9525" cap="flat">
              <a:solidFill>
                <a:srgbClr val="E1E3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On-Hand Units (M)</c:v>
                </c:pt>
              </c:strCache>
            </c:strRef>
          </c:tx>
          <c:spPr>
            <a:ln w="31750" cap="flat">
              <a:solidFill>
                <a:srgbClr val="6C5CE7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6C5CE7"/>
              </a:solidFill>
              <a:ln w="9525" cap="flat">
                <a:solidFill>
                  <a:srgbClr val="6C5CE7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2.4</c:v>
                </c:pt>
                <c:pt idx="1">
                  <c:v>2.9</c:v>
                </c:pt>
                <c:pt idx="2">
                  <c:v>6</c:v>
                </c:pt>
                <c:pt idx="3">
                  <c:v>5.3</c:v>
                </c:pt>
                <c:pt idx="4">
                  <c:v>5.7</c:v>
                </c:pt>
                <c:pt idx="5">
                  <c:v>4.8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C45-42E8-B557-8D49A20CAE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3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Stockout Rate %</c:v>
                </c:pt>
              </c:strCache>
            </c:strRef>
          </c:tx>
          <c:spPr>
            <a:solidFill>
              <a:srgbClr val="6C5CE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A2EE-474F-A120-2F6FF917046D}"/>
              </c:ext>
            </c:extLst>
          </c:dPt>
          <c:dPt>
            <c:idx val="1"/>
            <c:invertIfNegative val="0"/>
            <c:bubble3D val="0"/>
            <c:spPr>
              <a:solidFill>
                <a:srgbClr val="2FB8A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A2EE-474F-A120-2F6FF917046D}"/>
              </c:ext>
            </c:extLst>
          </c:dPt>
          <c:dPt>
            <c:idx val="2"/>
            <c:invertIfNegative val="0"/>
            <c:bubble3D val="0"/>
            <c:spPr>
              <a:solidFill>
                <a:srgbClr val="F2A9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A2EE-474F-A120-2F6FF917046D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5A5F7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Furniture</c:v>
                </c:pt>
                <c:pt idx="1">
                  <c:v>Decor</c:v>
                </c:pt>
                <c:pt idx="2">
                  <c:v>Small Appl.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43</c:v>
                </c:pt>
                <c:pt idx="1">
                  <c:v>39</c:v>
                </c:pt>
                <c:pt idx="2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A2EE-474F-A120-2F6FF917046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3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SKU Count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C5CE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A3C-4A6B-8761-51FB0EDD00A2}"/>
              </c:ext>
            </c:extLst>
          </c:dPt>
          <c:dPt>
            <c:idx val="1"/>
            <c:bubble3D val="0"/>
            <c:spPr>
              <a:solidFill>
                <a:srgbClr val="2FB8A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A3C-4A6B-8761-51FB0EDD00A2}"/>
              </c:ext>
            </c:extLst>
          </c:dPt>
          <c:dPt>
            <c:idx val="2"/>
            <c:bubble3D val="0"/>
            <c:spPr>
              <a:solidFill>
                <a:srgbClr val="F2A9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A3C-4A6B-8761-51FB0EDD00A2}"/>
              </c:ext>
            </c:extLst>
          </c:dPt>
          <c:dLbls>
            <c:dLbl>
              <c:idx val="0"/>
              <c:layout/>
              <c:numFmt formatCode="0%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DA3C-4A6B-8761-51FB0EDD00A2}"/>
                </c:ext>
              </c:extLst>
            </c:dLbl>
            <c:dLbl>
              <c:idx val="1"/>
              <c:layout/>
              <c:numFmt formatCode="0%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DA3C-4A6B-8761-51FB0EDD00A2}"/>
                </c:ext>
              </c:extLst>
            </c:dLbl>
            <c:dLbl>
              <c:idx val="2"/>
              <c:layout/>
              <c:numFmt formatCode="0%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DA3C-4A6B-8761-51FB0EDD00A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Furniture</c:v>
                </c:pt>
                <c:pt idx="1">
                  <c:v>Decor</c:v>
                </c:pt>
                <c:pt idx="2">
                  <c:v>Small Appliances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86</c:v>
                </c:pt>
                <c:pt idx="1">
                  <c:v>78</c:v>
                </c:pt>
                <c:pt idx="2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A3C-4A6B-8761-51FB0EDD00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ayout/>
      <c:overlay val="0"/>
      <c:txPr>
        <a:bodyPr/>
        <a:lstStyle/>
        <a:p>
          <a:pPr>
            <a:defRPr sz="900">
              <a:solidFill>
                <a:srgbClr val="5A5F7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(₹M)</c:v>
                </c:pt>
              </c:strCache>
            </c:strRef>
          </c:tx>
          <c:spPr>
            <a:solidFill>
              <a:srgbClr val="6C5CE7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5A5F7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SKU0196</c:v>
                </c:pt>
                <c:pt idx="1">
                  <c:v>SKU0194</c:v>
                </c:pt>
                <c:pt idx="2">
                  <c:v>SKU0197</c:v>
                </c:pt>
                <c:pt idx="3">
                  <c:v>SKU0199</c:v>
                </c:pt>
                <c:pt idx="4">
                  <c:v>SKU0192</c:v>
                </c:pt>
                <c:pt idx="5">
                  <c:v>SKU0200</c:v>
                </c:pt>
                <c:pt idx="6">
                  <c:v>SKU0198</c:v>
                </c:pt>
                <c:pt idx="7">
                  <c:v>SKU0195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5.6</c:v>
                </c:pt>
                <c:pt idx="1">
                  <c:v>6</c:v>
                </c:pt>
                <c:pt idx="2">
                  <c:v>6.5</c:v>
                </c:pt>
                <c:pt idx="3">
                  <c:v>7</c:v>
                </c:pt>
                <c:pt idx="4">
                  <c:v>7.6</c:v>
                </c:pt>
                <c:pt idx="5">
                  <c:v>8.1</c:v>
                </c:pt>
                <c:pt idx="6">
                  <c:v>8.6999999999999993</c:v>
                </c:pt>
                <c:pt idx="7">
                  <c:v>9.4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D5-4B29-B51C-AD3DD77CC52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1E3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(₹bn)</c:v>
                </c:pt>
              </c:strCache>
            </c:strRef>
          </c:tx>
          <c:spPr>
            <a:solidFill>
              <a:srgbClr val="6C5CE7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5A5F7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  <c:pt idx="7">
                  <c:v>2026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0.21</c:v>
                </c:pt>
                <c:pt idx="1">
                  <c:v>0</c:v>
                </c:pt>
                <c:pt idx="2">
                  <c:v>0.23</c:v>
                </c:pt>
                <c:pt idx="3">
                  <c:v>0.02</c:v>
                </c:pt>
                <c:pt idx="4">
                  <c:v>0.04</c:v>
                </c:pt>
                <c:pt idx="5">
                  <c:v>0.01</c:v>
                </c:pt>
                <c:pt idx="6">
                  <c:v>0.1</c:v>
                </c:pt>
                <c:pt idx="7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AC-497C-95A2-276AD686A99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3F0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Units/Day</c:v>
                </c:pt>
              </c:strCache>
            </c:strRef>
          </c:tx>
          <c:spPr>
            <a:ln w="31750" cap="flat">
              <a:solidFill>
                <a:srgbClr val="2FB8AC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FB8AC"/>
              </a:solidFill>
              <a:ln w="9525" cap="flat">
                <a:solidFill>
                  <a:srgbClr val="2FB8AC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28</c:v>
                </c:pt>
                <c:pt idx="7">
                  <c:v>30</c:v>
                </c:pt>
                <c:pt idx="8">
                  <c:v>33</c:v>
                </c:pt>
                <c:pt idx="9">
                  <c:v>35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4.75</c:v>
                </c:pt>
                <c:pt idx="1">
                  <c:v>5.33</c:v>
                </c:pt>
                <c:pt idx="2">
                  <c:v>8.6999999999999993</c:v>
                </c:pt>
                <c:pt idx="3">
                  <c:v>3.23</c:v>
                </c:pt>
                <c:pt idx="4">
                  <c:v>8.4600000000000009</c:v>
                </c:pt>
                <c:pt idx="5">
                  <c:v>4.74</c:v>
                </c:pt>
                <c:pt idx="6">
                  <c:v>3.85</c:v>
                </c:pt>
                <c:pt idx="7">
                  <c:v>5.76</c:v>
                </c:pt>
                <c:pt idx="8">
                  <c:v>3.98</c:v>
                </c:pt>
                <c:pt idx="9">
                  <c:v>7.5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469-4D27-8C68-5BDD7BBF4A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3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8347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040640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68653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40727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15823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32476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32212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84775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10265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04123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81375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94009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2857585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67351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01472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88350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35492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44893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752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1" r:id="rId1"/>
    <p:sldLayoutId id="2147483822" r:id="rId2"/>
    <p:sldLayoutId id="2147483823" r:id="rId3"/>
    <p:sldLayoutId id="2147483824" r:id="rId4"/>
    <p:sldLayoutId id="2147483825" r:id="rId5"/>
    <p:sldLayoutId id="2147483826" r:id="rId6"/>
    <p:sldLayoutId id="2147483827" r:id="rId7"/>
    <p:sldLayoutId id="2147483828" r:id="rId8"/>
    <p:sldLayoutId id="2147483829" r:id="rId9"/>
    <p:sldLayoutId id="2147483830" r:id="rId10"/>
    <p:sldLayoutId id="2147483831" r:id="rId11"/>
    <p:sldLayoutId id="2147483832" r:id="rId12"/>
    <p:sldLayoutId id="2147483833" r:id="rId13"/>
    <p:sldLayoutId id="2147483834" r:id="rId14"/>
    <p:sldLayoutId id="2147483835" r:id="rId15"/>
    <p:sldLayoutId id="2147483836" r:id="rId16"/>
    <p:sldLayoutId id="214748383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11.xml"/><Relationship Id="rId4" Type="http://schemas.openxmlformats.org/officeDocument/2006/relationships/chart" Target="../charts/char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2.xml"/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4.xml"/><Relationship Id="rId2" Type="http://schemas.openxmlformats.org/officeDocument/2006/relationships/chart" Target="../charts/chart2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6.xml"/><Relationship Id="rId2" Type="http://schemas.openxmlformats.org/officeDocument/2006/relationships/chart" Target="../charts/chart2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8.xml"/><Relationship Id="rId2" Type="http://schemas.openxmlformats.org/officeDocument/2006/relationships/chart" Target="../charts/chart2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3"/>
          <p:cNvSpPr txBox="1"/>
          <p:nvPr/>
        </p:nvSpPr>
        <p:spPr>
          <a:xfrm>
            <a:off x="640080" y="640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DATA </a:t>
            </a:r>
            <a:r>
              <a:rPr lang="en-US" sz="12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SCIENCE &amp; ANALYTICS  ·  CLIENT ENGAGEMENT SUBMISSION</a:t>
            </a:r>
            <a:endParaRPr lang="en-US" sz="1200" dirty="0"/>
          </a:p>
        </p:txBody>
      </p:sp>
      <p:sp>
        <p:nvSpPr>
          <p:cNvPr id="5" name="Text 4"/>
          <p:cNvSpPr txBox="1"/>
          <p:nvPr/>
        </p:nvSpPr>
        <p:spPr>
          <a:xfrm>
            <a:off x="640080" y="1379914"/>
            <a:ext cx="694112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Project </a:t>
            </a:r>
            <a:r>
              <a:rPr lang="en-US" sz="4000" b="1" dirty="0" smtClean="0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Foresight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5"/>
          <p:cNvSpPr txBox="1"/>
          <p:nvPr/>
        </p:nvSpPr>
        <p:spPr>
          <a:xfrm>
            <a:off x="640079" y="1953491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 smtClean="0">
              <a:solidFill>
                <a:srgbClr val="FFC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20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2000" dirty="0" smtClean="0">
              <a:solidFill>
                <a:srgbClr val="FFC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</a:t>
            </a:r>
            <a:r>
              <a:rPr lang="en-US" sz="20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</a:t>
            </a:r>
            <a:r>
              <a:rPr lang="en-US" sz="2000" dirty="0" smtClean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</a:t>
            </a:r>
            <a:r>
              <a:rPr lang="en-US" sz="20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for NorthBay Living</a:t>
            </a:r>
            <a:endParaRPr lang="en-US" sz="2000" dirty="0">
              <a:solidFill>
                <a:srgbClr val="FFC000"/>
              </a:solidFill>
            </a:endParaRPr>
          </a:p>
        </p:txBody>
      </p:sp>
      <p:sp>
        <p:nvSpPr>
          <p:cNvPr id="7" name="Shape 6"/>
          <p:cNvSpPr/>
          <p:nvPr/>
        </p:nvSpPr>
        <p:spPr>
          <a:xfrm>
            <a:off x="640079" y="3429000"/>
            <a:ext cx="68413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640080" y="3703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u="sng" kern="0" spc="200" dirty="0">
                <a:solidFill>
                  <a:schemeClr val="bg2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100" u="sng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" name="Text 8"/>
          <p:cNvSpPr txBox="1"/>
          <p:nvPr/>
        </p:nvSpPr>
        <p:spPr>
          <a:xfrm>
            <a:off x="640080" y="408570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Shanawas Ellora</a:t>
            </a:r>
            <a:endParaRPr lang="en-US" sz="1500" dirty="0"/>
          </a:p>
        </p:txBody>
      </p:sp>
      <p:sp>
        <p:nvSpPr>
          <p:cNvPr id="10" name="Text 9"/>
          <p:cNvSpPr txBox="1"/>
          <p:nvPr/>
        </p:nvSpPr>
        <p:spPr>
          <a:xfrm>
            <a:off x="3383280" y="408570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Aryan Kumar </a:t>
            </a: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Shaw</a:t>
            </a:r>
            <a:endParaRPr lang="en-US" sz="1500" dirty="0"/>
          </a:p>
        </p:txBody>
      </p:sp>
      <p:sp>
        <p:nvSpPr>
          <p:cNvPr id="11" name="Text 10"/>
          <p:cNvSpPr txBox="1"/>
          <p:nvPr/>
        </p:nvSpPr>
        <p:spPr>
          <a:xfrm>
            <a:off x="640080" y="449718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Kunjal Koul</a:t>
            </a:r>
            <a:endParaRPr lang="en-US" sz="1500" dirty="0"/>
          </a:p>
        </p:txBody>
      </p:sp>
      <p:sp>
        <p:nvSpPr>
          <p:cNvPr id="12" name="Text 11"/>
          <p:cNvSpPr txBox="1"/>
          <p:nvPr/>
        </p:nvSpPr>
        <p:spPr>
          <a:xfrm>
            <a:off x="3383280" y="449718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Nasreen Shaik</a:t>
            </a:r>
            <a:endParaRPr lang="en-US" sz="1500" dirty="0"/>
          </a:p>
        </p:txBody>
      </p:sp>
      <p:sp>
        <p:nvSpPr>
          <p:cNvPr id="13" name="Text 12"/>
          <p:cNvSpPr txBox="1"/>
          <p:nvPr/>
        </p:nvSpPr>
        <p:spPr>
          <a:xfrm>
            <a:off x="7040880" y="512064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2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Zidio Internship Program
</a:t>
            </a:r>
            <a:r>
              <a:rPr lang="en-US" sz="1100" dirty="0">
                <a:solidFill>
                  <a:schemeClr val="bg2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 NorthBay Living
</a:t>
            </a:r>
            <a:r>
              <a:rPr lang="en-US" sz="1000" dirty="0">
                <a:solidFill>
                  <a:schemeClr val="bg2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4-Week Engagement · Python · pandas · scikit-learn · Streamlit</a:t>
            </a:r>
            <a:endParaRPr lang="en-US" sz="12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4" name="Text 30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Zidio Development  ·  Project FORESIGHT  ·  Client Engagement Submission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311801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2"/>
          <p:cNvSpPr/>
          <p:nvPr/>
        </p:nvSpPr>
        <p:spPr>
          <a:xfrm>
            <a:off x="640080" y="1737360"/>
            <a:ext cx="5029200" cy="4480560"/>
          </a:xfrm>
          <a:prstGeom prst="roundRect">
            <a:avLst>
              <a:gd name="adj" fmla="val 2041"/>
            </a:avLst>
          </a:prstGeom>
          <a:solidFill>
            <a:schemeClr val="bg2"/>
          </a:solidFill>
          <a:ln/>
        </p:spPr>
      </p:sp>
      <p:sp>
        <p:nvSpPr>
          <p:cNvPr id="34" name="Text 3"/>
          <p:cNvSpPr txBox="1"/>
          <p:nvPr/>
        </p:nvSpPr>
        <p:spPr>
          <a:xfrm>
            <a:off x="960120" y="19659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5" name="Text 4"/>
          <p:cNvSpPr txBox="1"/>
          <p:nvPr/>
        </p:nvSpPr>
        <p:spPr>
          <a:xfrm>
            <a:off x="960120" y="22402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NorthBay Living</a:t>
            </a:r>
            <a:endParaRPr lang="en-US" sz="22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6" name="Text 5"/>
          <p:cNvSpPr txBox="1"/>
          <p:nvPr/>
        </p:nvSpPr>
        <p:spPr>
          <a:xfrm>
            <a:off x="960120" y="274320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Direct-to-consumer home &amp; lifestyle brand — furnishings, décor, small appliances. ~200 active SKUs, one warehouse, online-only.</a:t>
            </a:r>
            <a:endParaRPr lang="en-US" sz="1250" dirty="0"/>
          </a:p>
        </p:txBody>
      </p:sp>
      <p:sp>
        <p:nvSpPr>
          <p:cNvPr id="37" name="Shape 6"/>
          <p:cNvSpPr/>
          <p:nvPr/>
        </p:nvSpPr>
        <p:spPr>
          <a:xfrm>
            <a:off x="960120" y="3657600"/>
            <a:ext cx="4389120" cy="0"/>
          </a:xfrm>
          <a:prstGeom prst="line">
            <a:avLst/>
          </a:prstGeom>
          <a:noFill/>
          <a:ln w="12700">
            <a:solidFill>
              <a:srgbClr val="473C7A"/>
            </a:solidFill>
            <a:prstDash val="solid"/>
          </a:ln>
        </p:spPr>
      </p:sp>
      <p:sp>
        <p:nvSpPr>
          <p:cNvPr id="38" name="Text 7"/>
          <p:cNvSpPr txBox="1"/>
          <p:nvPr/>
        </p:nvSpPr>
        <p:spPr>
          <a:xfrm>
            <a:off x="960120" y="38404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9" name="Text 8"/>
          <p:cNvSpPr txBox="1"/>
          <p:nvPr/>
        </p:nvSpPr>
        <p:spPr>
          <a:xfrm>
            <a:off x="960120" y="4160520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Best-sellers run out 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lost sales, frustrated customers
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movers pile up 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cash locked in stock, margin-eroding markdowns</a:t>
            </a:r>
            <a:endParaRPr lang="en-US" sz="1250" dirty="0"/>
          </a:p>
        </p:txBody>
      </p:sp>
      <p:sp>
        <p:nvSpPr>
          <p:cNvPr id="40" name="Text 9"/>
          <p:cNvSpPr txBox="1"/>
          <p:nvPr/>
        </p:nvSpPr>
        <p:spPr>
          <a:xfrm>
            <a:off x="960120" y="539496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9F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Stocking is currently planned on gut feel and spreadsheets — no forecasting in place today.</a:t>
            </a:r>
            <a:endParaRPr lang="en-US" sz="1150" dirty="0"/>
          </a:p>
        </p:txBody>
      </p:sp>
      <p:sp>
        <p:nvSpPr>
          <p:cNvPr id="41" name="Shape 11"/>
          <p:cNvSpPr/>
          <p:nvPr/>
        </p:nvSpPr>
        <p:spPr>
          <a:xfrm>
            <a:off x="5989320" y="2148840"/>
            <a:ext cx="502920" cy="50292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</p:sp>
      <p:sp>
        <p:nvSpPr>
          <p:cNvPr id="43" name="Shape 15"/>
          <p:cNvSpPr/>
          <p:nvPr/>
        </p:nvSpPr>
        <p:spPr>
          <a:xfrm>
            <a:off x="5989320" y="3200400"/>
            <a:ext cx="502920" cy="50292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</p:sp>
      <p:sp>
        <p:nvSpPr>
          <p:cNvPr id="42" name="Text 12"/>
          <p:cNvSpPr txBox="1"/>
          <p:nvPr/>
        </p:nvSpPr>
        <p:spPr>
          <a:xfrm>
            <a:off x="5989320" y="21529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5" name="Shape 19"/>
          <p:cNvSpPr/>
          <p:nvPr/>
        </p:nvSpPr>
        <p:spPr>
          <a:xfrm>
            <a:off x="5989320" y="4251960"/>
            <a:ext cx="502920" cy="50292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</p:sp>
      <p:sp>
        <p:nvSpPr>
          <p:cNvPr id="47" name="Shape 23"/>
          <p:cNvSpPr/>
          <p:nvPr/>
        </p:nvSpPr>
        <p:spPr>
          <a:xfrm>
            <a:off x="5989320" y="5303520"/>
            <a:ext cx="502920" cy="50292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</p:sp>
      <p:sp>
        <p:nvSpPr>
          <p:cNvPr id="49" name="Text 0"/>
          <p:cNvSpPr txBox="1"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Overview</a:t>
            </a:r>
            <a:endParaRPr lang="en-US" sz="3200" dirty="0"/>
          </a:p>
        </p:txBody>
      </p:sp>
      <p:sp>
        <p:nvSpPr>
          <p:cNvPr id="50" name="Text 1"/>
          <p:cNvSpPr txBox="1"/>
          <p:nvPr/>
        </p:nvSpPr>
        <p:spPr>
          <a:xfrm>
            <a:off x="640080" y="10972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NorthBay Living's raw sales &amp; inventory data into stocking decisions</a:t>
            </a:r>
            <a:endParaRPr lang="en-US" sz="1350" dirty="0"/>
          </a:p>
        </p:txBody>
      </p:sp>
      <p:sp>
        <p:nvSpPr>
          <p:cNvPr id="44" name="Text 16"/>
          <p:cNvSpPr txBox="1"/>
          <p:nvPr/>
        </p:nvSpPr>
        <p:spPr>
          <a:xfrm>
            <a:off x="5989320" y="31962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6" name="Text 20"/>
          <p:cNvSpPr txBox="1"/>
          <p:nvPr/>
        </p:nvSpPr>
        <p:spPr>
          <a:xfrm>
            <a:off x="5989320" y="42394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8" name="Text 24"/>
          <p:cNvSpPr txBox="1"/>
          <p:nvPr/>
        </p:nvSpPr>
        <p:spPr>
          <a:xfrm>
            <a:off x="5989320" y="532430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3" name="Text 10"/>
          <p:cNvSpPr txBox="1"/>
          <p:nvPr/>
        </p:nvSpPr>
        <p:spPr>
          <a:xfrm>
            <a:off x="5989320" y="1737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BRIEF — FOUR ASKS</a:t>
            </a:r>
            <a:endParaRPr lang="en-US" sz="1100" dirty="0"/>
          </a:p>
        </p:txBody>
      </p:sp>
      <p:sp>
        <p:nvSpPr>
          <p:cNvPr id="54" name="Text 13"/>
          <p:cNvSpPr txBox="1"/>
          <p:nvPr/>
        </p:nvSpPr>
        <p:spPr>
          <a:xfrm>
            <a:off x="6675120" y="21214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</a:t>
            </a:r>
            <a:endParaRPr lang="en-US" sz="1500" dirty="0"/>
          </a:p>
        </p:txBody>
      </p:sp>
      <p:sp>
        <p:nvSpPr>
          <p:cNvPr id="55" name="Text 14"/>
          <p:cNvSpPr txBox="1"/>
          <p:nvPr/>
        </p:nvSpPr>
        <p:spPr>
          <a:xfrm>
            <a:off x="6675120" y="24414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Weekly, SKU-level forecast beating a naive baseline</a:t>
            </a:r>
            <a:endParaRPr lang="en-US" sz="115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6" name="Text 17"/>
          <p:cNvSpPr txBox="1"/>
          <p:nvPr/>
        </p:nvSpPr>
        <p:spPr>
          <a:xfrm>
            <a:off x="6675120" y="31729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Early-Warning</a:t>
            </a:r>
            <a:endParaRPr lang="en-US" sz="1500" dirty="0"/>
          </a:p>
        </p:txBody>
      </p:sp>
      <p:sp>
        <p:nvSpPr>
          <p:cNvPr id="57" name="Text 18"/>
          <p:cNvSpPr txBox="1"/>
          <p:nvPr/>
        </p:nvSpPr>
        <p:spPr>
          <a:xfrm>
            <a:off x="6675120" y="34930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which products are about to run out</a:t>
            </a:r>
            <a:endParaRPr lang="en-US" sz="115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8" name="Text 21"/>
          <p:cNvSpPr txBox="1"/>
          <p:nvPr/>
        </p:nvSpPr>
        <p:spPr>
          <a:xfrm>
            <a:off x="6675120" y="42245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Overstock Flag</a:t>
            </a:r>
            <a:endParaRPr lang="en-US" sz="1500" dirty="0"/>
          </a:p>
        </p:txBody>
      </p:sp>
      <p:sp>
        <p:nvSpPr>
          <p:cNvPr id="59" name="Text 22"/>
          <p:cNvSpPr txBox="1"/>
          <p:nvPr/>
        </p:nvSpPr>
        <p:spPr>
          <a:xfrm>
            <a:off x="6675120" y="45445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what to clear before it locks up cash</a:t>
            </a:r>
            <a:endParaRPr lang="en-US" sz="115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0" name="Text 25"/>
          <p:cNvSpPr txBox="1"/>
          <p:nvPr/>
        </p:nvSpPr>
        <p:spPr>
          <a:xfrm>
            <a:off x="6675120" y="52760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Interface</a:t>
            </a:r>
            <a:endParaRPr lang="en-US" sz="1500" dirty="0"/>
          </a:p>
        </p:txBody>
      </p:sp>
      <p:sp>
        <p:nvSpPr>
          <p:cNvPr id="61" name="Text 26"/>
          <p:cNvSpPr txBox="1"/>
          <p:nvPr/>
        </p:nvSpPr>
        <p:spPr>
          <a:xfrm>
            <a:off x="6675120" y="55961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dashboard a non-technical team can act on</a:t>
            </a:r>
            <a:endParaRPr lang="en-US" sz="115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8" name="Text 30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Zidio Development  ·  Project FORESIGHT  ·  Client Engagement Submission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364350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2369128" y="673967"/>
            <a:ext cx="8229600" cy="114300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sz="3200" dirty="0" smtClean="0">
                <a:latin typeface="Calibri" panose="020F0502020204030204" pitchFamily="34" charset="0"/>
                <a:cs typeface="Calibri" panose="020F0502020204030204" pitchFamily="34" charset="0"/>
              </a:rPr>
              <a:t>Executive</a:t>
            </a:r>
            <a:r>
              <a:rPr lang="en-IN" dirty="0" smtClean="0"/>
              <a:t> </a:t>
            </a:r>
            <a:r>
              <a:rPr lang="en-IN" sz="3200" dirty="0" smtClean="0">
                <a:latin typeface="Calibri" panose="020F0502020204030204" pitchFamily="34" charset="0"/>
                <a:cs typeface="Calibri" panose="020F0502020204030204" pitchFamily="34" charset="0"/>
              </a:rPr>
              <a:t>Overview, </a:t>
            </a:r>
            <a:r>
              <a:rPr lang="en-IN" sz="3200" dirty="0">
                <a:latin typeface="Calibri" panose="020F0502020204030204" pitchFamily="34" charset="0"/>
                <a:cs typeface="Calibri" panose="020F0502020204030204" pitchFamily="34" charset="0"/>
              </a:rPr>
              <a:t>Business Objectives, Dataset Overview and Key KPIs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1845425" y="1941022"/>
            <a:ext cx="8229600" cy="1724892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Project FORESIGHT - NorthBay Living Retail Forecasting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Team: 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Shanawas Ellora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Aryan Kumar Shaw</a:t>
            </a:r>
            <a:endParaRPr lang="en-US" dirty="0" smtClean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Kunjal Koul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Nasreen Shaik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Key findings and business insights.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806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30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Zidio Development  ·  Project FORESIGHT  ·  Client Engagement Submission</a:t>
            </a:r>
            <a:endParaRPr lang="en-US" sz="900" dirty="0"/>
          </a:p>
        </p:txBody>
      </p:sp>
      <p:sp>
        <p:nvSpPr>
          <p:cNvPr id="5" name="Text 5"/>
          <p:cNvSpPr txBox="1"/>
          <p:nvPr/>
        </p:nvSpPr>
        <p:spPr>
          <a:xfrm>
            <a:off x="118872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1450" dirty="0"/>
          </a:p>
        </p:txBody>
      </p:sp>
      <p:sp>
        <p:nvSpPr>
          <p:cNvPr id="6" name="Text 8"/>
          <p:cNvSpPr txBox="1"/>
          <p:nvPr/>
        </p:nvSpPr>
        <p:spPr>
          <a:xfrm>
            <a:off x="1188720" y="2578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 &amp; Time Intelligence</a:t>
            </a:r>
            <a:endParaRPr lang="en-US" sz="1450" dirty="0"/>
          </a:p>
        </p:txBody>
      </p:sp>
      <p:sp>
        <p:nvSpPr>
          <p:cNvPr id="7" name="Text 11"/>
          <p:cNvSpPr txBox="1"/>
          <p:nvPr/>
        </p:nvSpPr>
        <p:spPr>
          <a:xfrm>
            <a:off x="1188720" y="323697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Category Performance</a:t>
            </a:r>
            <a:endParaRPr lang="en-US" sz="1450" dirty="0"/>
          </a:p>
        </p:txBody>
      </p:sp>
      <p:sp>
        <p:nvSpPr>
          <p:cNvPr id="8" name="Text 14"/>
          <p:cNvSpPr txBox="1"/>
          <p:nvPr/>
        </p:nvSpPr>
        <p:spPr>
          <a:xfrm>
            <a:off x="1188720" y="389534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Subcategory Deep Dive</a:t>
            </a:r>
            <a:endParaRPr lang="en-US" sz="1450" dirty="0"/>
          </a:p>
        </p:txBody>
      </p:sp>
      <p:sp>
        <p:nvSpPr>
          <p:cNvPr id="9" name="Text 17"/>
          <p:cNvSpPr txBox="1"/>
          <p:nvPr/>
        </p:nvSpPr>
        <p:spPr>
          <a:xfrm>
            <a:off x="1188720" y="455371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Regional Performance</a:t>
            </a:r>
            <a:endParaRPr lang="en-US" sz="1450" dirty="0"/>
          </a:p>
        </p:txBody>
      </p:sp>
      <p:sp>
        <p:nvSpPr>
          <p:cNvPr id="10" name="Text 20"/>
          <p:cNvSpPr txBox="1"/>
          <p:nvPr/>
        </p:nvSpPr>
        <p:spPr>
          <a:xfrm>
            <a:off x="1188720" y="5212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Region × Category Cross Analysis</a:t>
            </a:r>
            <a:endParaRPr lang="en-US" sz="1450" dirty="0"/>
          </a:p>
        </p:txBody>
      </p:sp>
      <p:sp>
        <p:nvSpPr>
          <p:cNvPr id="11" name="Shape 21"/>
          <p:cNvSpPr/>
          <p:nvPr/>
        </p:nvSpPr>
        <p:spPr>
          <a:xfrm>
            <a:off x="6217920" y="1965960"/>
            <a:ext cx="384048" cy="38404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</p:sp>
      <p:sp>
        <p:nvSpPr>
          <p:cNvPr id="13" name="Shape 24"/>
          <p:cNvSpPr/>
          <p:nvPr/>
        </p:nvSpPr>
        <p:spPr>
          <a:xfrm>
            <a:off x="6217920" y="2624328"/>
            <a:ext cx="384048" cy="38404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</p:sp>
      <p:sp>
        <p:nvSpPr>
          <p:cNvPr id="15" name="Shape 27"/>
          <p:cNvSpPr/>
          <p:nvPr/>
        </p:nvSpPr>
        <p:spPr>
          <a:xfrm>
            <a:off x="6217920" y="3282696"/>
            <a:ext cx="384048" cy="38404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</p:sp>
      <p:sp>
        <p:nvSpPr>
          <p:cNvPr id="17" name="Shape 30"/>
          <p:cNvSpPr/>
          <p:nvPr/>
        </p:nvSpPr>
        <p:spPr>
          <a:xfrm>
            <a:off x="6217920" y="3941064"/>
            <a:ext cx="384048" cy="38404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</p:sp>
      <p:sp>
        <p:nvSpPr>
          <p:cNvPr id="19" name="Shape 33"/>
          <p:cNvSpPr/>
          <p:nvPr/>
        </p:nvSpPr>
        <p:spPr>
          <a:xfrm>
            <a:off x="6217920" y="4599432"/>
            <a:ext cx="384048" cy="38404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</p:sp>
      <p:sp>
        <p:nvSpPr>
          <p:cNvPr id="21" name="Shape 36"/>
          <p:cNvSpPr/>
          <p:nvPr/>
        </p:nvSpPr>
        <p:spPr>
          <a:xfrm>
            <a:off x="6217920" y="5257800"/>
            <a:ext cx="384048" cy="38404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</p:sp>
      <p:sp>
        <p:nvSpPr>
          <p:cNvPr id="23" name="Text 23"/>
          <p:cNvSpPr txBox="1"/>
          <p:nvPr/>
        </p:nvSpPr>
        <p:spPr>
          <a:xfrm>
            <a:off x="676656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&amp; Holiday Impact</a:t>
            </a:r>
            <a:endParaRPr lang="en-US" sz="1450" dirty="0"/>
          </a:p>
        </p:txBody>
      </p:sp>
      <p:sp>
        <p:nvSpPr>
          <p:cNvPr id="24" name="Text 26"/>
          <p:cNvSpPr txBox="1"/>
          <p:nvPr/>
        </p:nvSpPr>
        <p:spPr>
          <a:xfrm>
            <a:off x="6766560" y="2578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Promotions &amp; Campaign Effectiveness</a:t>
            </a:r>
            <a:endParaRPr lang="en-US" sz="1450" dirty="0"/>
          </a:p>
        </p:txBody>
      </p:sp>
      <p:sp>
        <p:nvSpPr>
          <p:cNvPr id="25" name="Text 29"/>
          <p:cNvSpPr txBox="1"/>
          <p:nvPr/>
        </p:nvSpPr>
        <p:spPr>
          <a:xfrm>
            <a:off x="6766560" y="323697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Discount Analysis</a:t>
            </a:r>
            <a:endParaRPr lang="en-US" sz="1450" dirty="0"/>
          </a:p>
        </p:txBody>
      </p:sp>
      <p:sp>
        <p:nvSpPr>
          <p:cNvPr id="26" name="Text 32"/>
          <p:cNvSpPr txBox="1"/>
          <p:nvPr/>
        </p:nvSpPr>
        <p:spPr>
          <a:xfrm>
            <a:off x="6766560" y="389534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Stockout Analysis</a:t>
            </a:r>
            <a:endParaRPr lang="en-US" sz="1450" dirty="0"/>
          </a:p>
        </p:txBody>
      </p:sp>
      <p:sp>
        <p:nvSpPr>
          <p:cNvPr id="27" name="Text 35"/>
          <p:cNvSpPr txBox="1"/>
          <p:nvPr/>
        </p:nvSpPr>
        <p:spPr>
          <a:xfrm>
            <a:off x="6766560" y="455371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SKU Performance</a:t>
            </a:r>
            <a:endParaRPr lang="en-US" sz="1450" dirty="0"/>
          </a:p>
        </p:txBody>
      </p:sp>
      <p:sp>
        <p:nvSpPr>
          <p:cNvPr id="28" name="Text 38"/>
          <p:cNvSpPr txBox="1"/>
          <p:nvPr/>
        </p:nvSpPr>
        <p:spPr>
          <a:xfrm>
            <a:off x="6766560" y="5212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Product Lifecycle &amp; Launch Analysis</a:t>
            </a:r>
            <a:endParaRPr lang="en-US" sz="1450" dirty="0"/>
          </a:p>
        </p:txBody>
      </p:sp>
      <p:sp>
        <p:nvSpPr>
          <p:cNvPr id="35" name="Shape 3"/>
          <p:cNvSpPr/>
          <p:nvPr/>
        </p:nvSpPr>
        <p:spPr>
          <a:xfrm>
            <a:off x="592977" y="1977039"/>
            <a:ext cx="384048" cy="38404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</p:sp>
      <p:sp>
        <p:nvSpPr>
          <p:cNvPr id="36" name="Shape 6"/>
          <p:cNvSpPr/>
          <p:nvPr/>
        </p:nvSpPr>
        <p:spPr>
          <a:xfrm>
            <a:off x="592977" y="2635407"/>
            <a:ext cx="384048" cy="38404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</p:sp>
      <p:sp>
        <p:nvSpPr>
          <p:cNvPr id="37" name="Shape 9"/>
          <p:cNvSpPr/>
          <p:nvPr/>
        </p:nvSpPr>
        <p:spPr>
          <a:xfrm>
            <a:off x="592977" y="3293775"/>
            <a:ext cx="384048" cy="38404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</p:sp>
      <p:sp>
        <p:nvSpPr>
          <p:cNvPr id="38" name="Shape 12"/>
          <p:cNvSpPr/>
          <p:nvPr/>
        </p:nvSpPr>
        <p:spPr>
          <a:xfrm>
            <a:off x="592977" y="3952143"/>
            <a:ext cx="384048" cy="38404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</p:sp>
      <p:sp>
        <p:nvSpPr>
          <p:cNvPr id="39" name="Shape 15"/>
          <p:cNvSpPr/>
          <p:nvPr/>
        </p:nvSpPr>
        <p:spPr>
          <a:xfrm>
            <a:off x="592977" y="4610511"/>
            <a:ext cx="384048" cy="38404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</p:sp>
      <p:sp>
        <p:nvSpPr>
          <p:cNvPr id="40" name="Shape 18"/>
          <p:cNvSpPr/>
          <p:nvPr/>
        </p:nvSpPr>
        <p:spPr>
          <a:xfrm>
            <a:off x="592977" y="5268879"/>
            <a:ext cx="384048" cy="38404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</p:sp>
      <p:sp>
        <p:nvSpPr>
          <p:cNvPr id="47" name="Text 2"/>
          <p:cNvSpPr txBox="1"/>
          <p:nvPr/>
        </p:nvSpPr>
        <p:spPr>
          <a:xfrm>
            <a:off x="64008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analytical views spanning revenue, demand, pricing, inventory and lifecycle — mirroring the Power BI report structure.</a:t>
            </a:r>
            <a:endParaRPr lang="en-US" sz="125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8" name="Text 1"/>
          <p:cNvSpPr txBox="1"/>
          <p:nvPr/>
        </p:nvSpPr>
        <p:spPr>
          <a:xfrm>
            <a:off x="640080" y="6400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What This Report Covers</a:t>
            </a:r>
            <a:endParaRPr lang="en-US" sz="2700" dirty="0"/>
          </a:p>
        </p:txBody>
      </p:sp>
      <p:sp>
        <p:nvSpPr>
          <p:cNvPr id="49" name="Text 0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1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Text 22"/>
          <p:cNvSpPr txBox="1"/>
          <p:nvPr/>
        </p:nvSpPr>
        <p:spPr>
          <a:xfrm>
            <a:off x="6217920" y="19806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4" name="Text 25"/>
          <p:cNvSpPr txBox="1"/>
          <p:nvPr/>
        </p:nvSpPr>
        <p:spPr>
          <a:xfrm>
            <a:off x="6230105" y="26348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6" name="Text 28"/>
          <p:cNvSpPr txBox="1"/>
          <p:nvPr/>
        </p:nvSpPr>
        <p:spPr>
          <a:xfrm>
            <a:off x="6236205" y="328408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8" name="Text 31"/>
          <p:cNvSpPr txBox="1"/>
          <p:nvPr/>
        </p:nvSpPr>
        <p:spPr>
          <a:xfrm>
            <a:off x="621792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0" name="Text 34"/>
          <p:cNvSpPr txBox="1"/>
          <p:nvPr/>
        </p:nvSpPr>
        <p:spPr>
          <a:xfrm>
            <a:off x="6216258" y="459195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2" name="Text 37"/>
          <p:cNvSpPr txBox="1"/>
          <p:nvPr/>
        </p:nvSpPr>
        <p:spPr>
          <a:xfrm>
            <a:off x="6236205" y="525641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9" name="Text 4"/>
          <p:cNvSpPr txBox="1"/>
          <p:nvPr/>
        </p:nvSpPr>
        <p:spPr>
          <a:xfrm>
            <a:off x="592977" y="1993669"/>
            <a:ext cx="384048" cy="363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0" name="Text 7"/>
          <p:cNvSpPr txBox="1"/>
          <p:nvPr/>
        </p:nvSpPr>
        <p:spPr>
          <a:xfrm>
            <a:off x="605162" y="264662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1" name="Text 10"/>
          <p:cNvSpPr txBox="1"/>
          <p:nvPr/>
        </p:nvSpPr>
        <p:spPr>
          <a:xfrm>
            <a:off x="592977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2" name="Text 13"/>
          <p:cNvSpPr txBox="1"/>
          <p:nvPr/>
        </p:nvSpPr>
        <p:spPr>
          <a:xfrm>
            <a:off x="592977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3" name="Text 16"/>
          <p:cNvSpPr txBox="1"/>
          <p:nvPr/>
        </p:nvSpPr>
        <p:spPr>
          <a:xfrm>
            <a:off x="592977" y="4608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4" name="Text 19"/>
          <p:cNvSpPr txBox="1"/>
          <p:nvPr/>
        </p:nvSpPr>
        <p:spPr>
          <a:xfrm>
            <a:off x="592977" y="5248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0959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30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Zidio Development  ·  Project FORESIGHT  ·  Client Engagement Submission</a:t>
            </a:r>
            <a:endParaRPr lang="en-US" sz="900" dirty="0"/>
          </a:p>
        </p:txBody>
      </p:sp>
      <p:sp>
        <p:nvSpPr>
          <p:cNvPr id="5" name="Text 0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· EXECUTIVE OVERVIEW</a:t>
            </a:r>
            <a:endParaRPr lang="en-US" sz="1100" dirty="0">
              <a:solidFill>
                <a:srgbClr val="FFC000"/>
              </a:solidFill>
            </a:endParaRPr>
          </a:p>
        </p:txBody>
      </p:sp>
      <p:sp>
        <p:nvSpPr>
          <p:cNvPr id="6" name="Text 1"/>
          <p:cNvSpPr txBox="1"/>
          <p:nvPr/>
        </p:nvSpPr>
        <p:spPr>
          <a:xfrm>
            <a:off x="640080" y="6400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Company-Wide Performance Snapshot</a:t>
            </a:r>
            <a:endParaRPr lang="en-US" sz="2700" dirty="0"/>
          </a:p>
        </p:txBody>
      </p:sp>
      <p:sp>
        <p:nvSpPr>
          <p:cNvPr id="7" name="Text 2"/>
          <p:cNvSpPr txBox="1"/>
          <p:nvPr/>
        </p:nvSpPr>
        <p:spPr>
          <a:xfrm>
            <a:off x="64008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units and SKU footprint across the full analysis window.</a:t>
            </a:r>
            <a:endParaRPr lang="en-US" sz="1250" dirty="0">
              <a:solidFill>
                <a:srgbClr val="FFC000"/>
              </a:solidFill>
            </a:endParaRPr>
          </a:p>
        </p:txBody>
      </p:sp>
      <p:sp>
        <p:nvSpPr>
          <p:cNvPr id="8" name="Shape 3"/>
          <p:cNvSpPr/>
          <p:nvPr/>
        </p:nvSpPr>
        <p:spPr>
          <a:xfrm>
            <a:off x="640080" y="1691640"/>
            <a:ext cx="2468880" cy="914400"/>
          </a:xfrm>
          <a:prstGeom prst="roundRect">
            <a:avLst>
              <a:gd name="adj" fmla="val 7000"/>
            </a:avLst>
          </a:prstGeom>
          <a:solidFill>
            <a:srgbClr val="F4F5FB"/>
          </a:solidFill>
          <a:ln/>
          <a:effectLst>
            <a:outerShdw blurRad="76200" dist="25400" dir="5400000" algn="bl" rotWithShape="0">
              <a:srgbClr val="1A1A3D">
                <a:alpha val="8000"/>
              </a:srgbClr>
            </a:outerShdw>
          </a:effectLst>
        </p:spPr>
      </p:sp>
      <p:sp>
        <p:nvSpPr>
          <p:cNvPr id="9" name="Text 4"/>
          <p:cNvSpPr txBox="1"/>
          <p:nvPr/>
        </p:nvSpPr>
        <p:spPr>
          <a:xfrm>
            <a:off x="640080" y="18013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₹617M</a:t>
            </a:r>
            <a:endParaRPr lang="en-US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Text 5"/>
          <p:cNvSpPr txBox="1"/>
          <p:nvPr/>
        </p:nvSpPr>
        <p:spPr>
          <a:xfrm>
            <a:off x="640080" y="22585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Total Revenue</a:t>
            </a:r>
            <a:endParaRPr lang="en-US" sz="95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1" name="Shape 6"/>
          <p:cNvSpPr/>
          <p:nvPr/>
        </p:nvSpPr>
        <p:spPr>
          <a:xfrm>
            <a:off x="3337560" y="1691640"/>
            <a:ext cx="2468880" cy="914400"/>
          </a:xfrm>
          <a:prstGeom prst="roundRect">
            <a:avLst>
              <a:gd name="adj" fmla="val 7000"/>
            </a:avLst>
          </a:prstGeom>
          <a:solidFill>
            <a:srgbClr val="F4F5FB"/>
          </a:solidFill>
          <a:ln/>
          <a:effectLst>
            <a:outerShdw blurRad="76200" dist="25400" dir="5400000" algn="bl" rotWithShape="0">
              <a:srgbClr val="1A1A3D">
                <a:alpha val="8000"/>
              </a:srgbClr>
            </a:outerShdw>
          </a:effectLst>
        </p:spPr>
      </p:sp>
      <p:sp>
        <p:nvSpPr>
          <p:cNvPr id="12" name="Text 7"/>
          <p:cNvSpPr txBox="1"/>
          <p:nvPr/>
        </p:nvSpPr>
        <p:spPr>
          <a:xfrm>
            <a:off x="3337560" y="18013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2M</a:t>
            </a:r>
            <a:endParaRPr lang="en-US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3" name="Text 8"/>
          <p:cNvSpPr txBox="1"/>
          <p:nvPr/>
        </p:nvSpPr>
        <p:spPr>
          <a:xfrm>
            <a:off x="3337560" y="22585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Units Sold</a:t>
            </a:r>
            <a:endParaRPr lang="en-US" sz="95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4" name="Shape 9"/>
          <p:cNvSpPr/>
          <p:nvPr/>
        </p:nvSpPr>
        <p:spPr>
          <a:xfrm>
            <a:off x="6035040" y="1691640"/>
            <a:ext cx="2468880" cy="914400"/>
          </a:xfrm>
          <a:prstGeom prst="roundRect">
            <a:avLst>
              <a:gd name="adj" fmla="val 7000"/>
            </a:avLst>
          </a:prstGeom>
          <a:solidFill>
            <a:srgbClr val="F4F5FB"/>
          </a:solidFill>
          <a:ln/>
          <a:effectLst>
            <a:outerShdw blurRad="76200" dist="25400" dir="5400000" algn="bl" rotWithShape="0">
              <a:srgbClr val="1A1A3D">
                <a:alpha val="8000"/>
              </a:srgbClr>
            </a:outerShdw>
          </a:effectLst>
        </p:spPr>
      </p:sp>
      <p:sp>
        <p:nvSpPr>
          <p:cNvPr id="15" name="Text 10"/>
          <p:cNvSpPr txBox="1"/>
          <p:nvPr/>
        </p:nvSpPr>
        <p:spPr>
          <a:xfrm>
            <a:off x="6035040" y="18013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₹304.93</a:t>
            </a:r>
            <a:endParaRPr lang="en-US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6" name="Text 11"/>
          <p:cNvSpPr txBox="1"/>
          <p:nvPr/>
        </p:nvSpPr>
        <p:spPr>
          <a:xfrm>
            <a:off x="6035040" y="22585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Unit Price</a:t>
            </a:r>
            <a:endParaRPr lang="en-US" sz="95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7" name="Shape 12"/>
          <p:cNvSpPr/>
          <p:nvPr/>
        </p:nvSpPr>
        <p:spPr>
          <a:xfrm>
            <a:off x="8732520" y="1691640"/>
            <a:ext cx="2468880" cy="914400"/>
          </a:xfrm>
          <a:prstGeom prst="roundRect">
            <a:avLst>
              <a:gd name="adj" fmla="val 7000"/>
            </a:avLst>
          </a:prstGeom>
          <a:solidFill>
            <a:srgbClr val="F4F5FB"/>
          </a:solidFill>
          <a:ln/>
          <a:effectLst>
            <a:outerShdw blurRad="76200" dist="25400" dir="5400000" algn="bl" rotWithShape="0">
              <a:srgbClr val="1A1A3D">
                <a:alpha val="8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8732520" y="18013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9" name="Text 14"/>
          <p:cNvSpPr txBox="1"/>
          <p:nvPr/>
        </p:nvSpPr>
        <p:spPr>
          <a:xfrm>
            <a:off x="8732520" y="22585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SKU ID</a:t>
            </a:r>
            <a:endParaRPr lang="en-US" sz="95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0" name="Shape 15"/>
          <p:cNvSpPr/>
          <p:nvPr/>
        </p:nvSpPr>
        <p:spPr>
          <a:xfrm>
            <a:off x="640080" y="2834640"/>
            <a:ext cx="10881360" cy="3291840"/>
          </a:xfrm>
          <a:prstGeom prst="roundRect">
            <a:avLst>
              <a:gd name="adj" fmla="val 1944"/>
            </a:avLst>
          </a:prstGeom>
          <a:solidFill>
            <a:srgbClr val="F4F5FB"/>
          </a:solidFill>
          <a:ln/>
          <a:effectLst>
            <a:outerShdw blurRad="76200" dist="25400" dir="5400000" algn="bl" rotWithShape="0">
              <a:srgbClr val="1A1A3D">
                <a:alpha val="8000"/>
              </a:srgbClr>
            </a:outerShdw>
          </a:effectLst>
        </p:spPr>
      </p:sp>
      <p:sp>
        <p:nvSpPr>
          <p:cNvPr id="21" name="Text 16"/>
          <p:cNvSpPr txBox="1"/>
          <p:nvPr/>
        </p:nvSpPr>
        <p:spPr>
          <a:xfrm>
            <a:off x="914400" y="3017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REVENUE TREND</a:t>
            </a:r>
            <a:endParaRPr lang="en-US" sz="1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2" name="Text 17"/>
          <p:cNvSpPr txBox="1"/>
          <p:nvPr/>
        </p:nvSpPr>
        <p:spPr>
          <a:xfrm>
            <a:off x="914400" y="3291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revenue by year (₹M) — 2026 is a partial year</a:t>
            </a:r>
            <a:endParaRPr lang="en-US" sz="1000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23" name="Chart 0"/>
          <p:cNvGraphicFramePr/>
          <p:nvPr/>
        </p:nvGraphicFramePr>
        <p:xfrm>
          <a:off x="914400" y="3611880"/>
          <a:ext cx="103327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33783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30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Zidio Development  ·  Project FORESIGHT  ·  Client Engagement Submission</a:t>
            </a:r>
            <a:endParaRPr lang="en-US" sz="900" dirty="0"/>
          </a:p>
        </p:txBody>
      </p:sp>
      <p:sp>
        <p:nvSpPr>
          <p:cNvPr id="5" name="Text 0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· EXECUTIVE OVERVIEW</a:t>
            </a:r>
            <a:endParaRPr lang="en-US" sz="1100" dirty="0">
              <a:solidFill>
                <a:srgbClr val="FFC000"/>
              </a:solidFill>
            </a:endParaRPr>
          </a:p>
        </p:txBody>
      </p:sp>
      <p:sp>
        <p:nvSpPr>
          <p:cNvPr id="6" name="Text 1"/>
          <p:cNvSpPr txBox="1"/>
          <p:nvPr/>
        </p:nvSpPr>
        <p:spPr>
          <a:xfrm>
            <a:off x="640080" y="6400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chemeClr val="tx1">
                    <a:lumMod val="9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Mix by Category, Region &amp; Units Sold</a:t>
            </a:r>
            <a:endParaRPr lang="en-US" sz="2700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7" name="Text 2"/>
          <p:cNvSpPr txBox="1"/>
          <p:nvPr/>
        </p:nvSpPr>
        <p:spPr>
          <a:xfrm>
            <a:off x="64008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is the clear revenue driver; regional and unit splits round out the picture.</a:t>
            </a:r>
            <a:endParaRPr lang="en-US" sz="1250" dirty="0">
              <a:solidFill>
                <a:srgbClr val="FFC000"/>
              </a:solidFill>
            </a:endParaRPr>
          </a:p>
        </p:txBody>
      </p:sp>
      <p:sp>
        <p:nvSpPr>
          <p:cNvPr id="8" name="Shape 3"/>
          <p:cNvSpPr/>
          <p:nvPr/>
        </p:nvSpPr>
        <p:spPr>
          <a:xfrm>
            <a:off x="640080" y="1691640"/>
            <a:ext cx="3474720" cy="4434840"/>
          </a:xfrm>
          <a:prstGeom prst="roundRect">
            <a:avLst>
              <a:gd name="adj" fmla="val 1842"/>
            </a:avLst>
          </a:prstGeom>
          <a:solidFill>
            <a:srgbClr val="F4F5FB"/>
          </a:solidFill>
          <a:ln/>
          <a:effectLst>
            <a:outerShdw blurRad="76200" dist="25400" dir="5400000" algn="bl" rotWithShape="0">
              <a:srgbClr val="1A1A3D">
                <a:alpha val="8000"/>
              </a:srgbClr>
            </a:outerShdw>
          </a:effectLst>
        </p:spPr>
      </p:sp>
      <p:sp>
        <p:nvSpPr>
          <p:cNvPr id="9" name="Text 4"/>
          <p:cNvSpPr txBox="1"/>
          <p:nvPr/>
        </p:nvSpPr>
        <p:spPr>
          <a:xfrm>
            <a:off x="914400" y="1874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</a:t>
            </a:r>
            <a:endParaRPr lang="en-US" sz="1000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10" name="Chart 0"/>
          <p:cNvGraphicFramePr/>
          <p:nvPr/>
        </p:nvGraphicFramePr>
        <p:xfrm>
          <a:off x="868680" y="2194560"/>
          <a:ext cx="301752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Text 5"/>
          <p:cNvSpPr txBox="1"/>
          <p:nvPr/>
        </p:nvSpPr>
        <p:spPr>
          <a:xfrm>
            <a:off x="914400" y="42062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alone contributes 78% of total revenue.</a:t>
            </a:r>
            <a:endParaRPr lang="en-US" sz="105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2" name="Shape 6"/>
          <p:cNvSpPr/>
          <p:nvPr/>
        </p:nvSpPr>
        <p:spPr>
          <a:xfrm>
            <a:off x="4297680" y="1691640"/>
            <a:ext cx="3474720" cy="4434840"/>
          </a:xfrm>
          <a:prstGeom prst="roundRect">
            <a:avLst>
              <a:gd name="adj" fmla="val 1842"/>
            </a:avLst>
          </a:prstGeom>
          <a:solidFill>
            <a:srgbClr val="F4F5FB"/>
          </a:solidFill>
          <a:ln/>
          <a:effectLst>
            <a:outerShdw blurRad="76200" dist="25400" dir="5400000" algn="bl" rotWithShape="0">
              <a:srgbClr val="1A1A3D">
                <a:alpha val="8000"/>
              </a:srgbClr>
            </a:outerShdw>
          </a:effectLst>
        </p:spPr>
      </p:sp>
      <p:sp>
        <p:nvSpPr>
          <p:cNvPr id="13" name="Text 7"/>
          <p:cNvSpPr txBox="1"/>
          <p:nvPr/>
        </p:nvSpPr>
        <p:spPr>
          <a:xfrm>
            <a:off x="4572000" y="1874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 BY REGION</a:t>
            </a:r>
            <a:endParaRPr lang="en-US" sz="1000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14" name="Chart 1"/>
          <p:cNvGraphicFramePr/>
          <p:nvPr/>
        </p:nvGraphicFramePr>
        <p:xfrm>
          <a:off x="4526280" y="2148840"/>
          <a:ext cx="30175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ext 8"/>
          <p:cNvSpPr txBox="1"/>
          <p:nvPr/>
        </p:nvSpPr>
        <p:spPr>
          <a:xfrm>
            <a:off x="4572000" y="45720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regions sit within a ~0.1pt band of 25% — an unusually even split worth validating against source data.</a:t>
            </a:r>
            <a:endParaRPr lang="en-US" sz="105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6" name="Shape 9"/>
          <p:cNvSpPr/>
          <p:nvPr/>
        </p:nvSpPr>
        <p:spPr>
          <a:xfrm>
            <a:off x="7955280" y="1691640"/>
            <a:ext cx="3566160" cy="4434840"/>
          </a:xfrm>
          <a:prstGeom prst="roundRect">
            <a:avLst>
              <a:gd name="adj" fmla="val 1795"/>
            </a:avLst>
          </a:prstGeom>
          <a:solidFill>
            <a:srgbClr val="F4F5FB"/>
          </a:solidFill>
          <a:ln/>
          <a:effectLst>
            <a:outerShdw blurRad="76200" dist="25400" dir="5400000" algn="bl" rotWithShape="0">
              <a:srgbClr val="1A1A3D">
                <a:alpha val="8000"/>
              </a:srgbClr>
            </a:outerShdw>
          </a:effectLst>
        </p:spPr>
      </p:sp>
      <p:sp>
        <p:nvSpPr>
          <p:cNvPr id="17" name="Text 10"/>
          <p:cNvSpPr txBox="1"/>
          <p:nvPr/>
        </p:nvSpPr>
        <p:spPr>
          <a:xfrm>
            <a:off x="8229600" y="1874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 BY CATEGORY</a:t>
            </a:r>
            <a:endParaRPr lang="en-US" sz="1000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18" name="Chart 2"/>
          <p:cNvGraphicFramePr/>
          <p:nvPr/>
        </p:nvGraphicFramePr>
        <p:xfrm>
          <a:off x="8183880" y="2194560"/>
          <a:ext cx="310896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Text 11"/>
          <p:cNvSpPr txBox="1"/>
          <p:nvPr/>
        </p:nvSpPr>
        <p:spPr>
          <a:xfrm>
            <a:off x="8229600" y="42062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and Decor together account for 4x the unit volume of Small Appliances.</a:t>
            </a:r>
            <a:endParaRPr lang="en-US" sz="105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8622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0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Zidio Development  ·  Project FORESIGHT  ·  Client Engagement Submission</a:t>
            </a:r>
            <a:endParaRPr lang="en-US" sz="900" dirty="0"/>
          </a:p>
        </p:txBody>
      </p:sp>
      <p:sp>
        <p:nvSpPr>
          <p:cNvPr id="3" name="Text 0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· SALES TREND &amp; TIME INTELLIGENCE</a:t>
            </a:r>
            <a:endParaRPr lang="en-US" sz="1100" dirty="0">
              <a:solidFill>
                <a:srgbClr val="FFC000"/>
              </a:solidFill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640080" y="6400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chemeClr val="tx1">
                    <a:lumMod val="9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&amp; Unit-Sales Momentum Over Time</a:t>
            </a:r>
            <a:endParaRPr lang="en-US" sz="2700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64008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volume by year, seasonal monthly revenue, and weekly revenue variance.</a:t>
            </a:r>
            <a:endParaRPr lang="en-US" sz="1250" dirty="0">
              <a:solidFill>
                <a:srgbClr val="FFC000"/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5257800" cy="2148840"/>
          </a:xfrm>
          <a:prstGeom prst="roundRect">
            <a:avLst>
              <a:gd name="adj" fmla="val 2979"/>
            </a:avLst>
          </a:prstGeom>
          <a:solidFill>
            <a:srgbClr val="F4F5FB"/>
          </a:solidFill>
          <a:ln/>
          <a:effectLst>
            <a:outerShdw blurRad="76200" dist="25400" dir="5400000" algn="bl" rotWithShape="0">
              <a:srgbClr val="1A1A3D">
                <a:alpha val="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914400" y="1874520"/>
            <a:ext cx="31338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VOLUME TREND (UNITS SOLD BY YEAR)</a:t>
            </a:r>
            <a:endParaRPr lang="en-US" sz="1000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8" name="Chart 0"/>
          <p:cNvGraphicFramePr/>
          <p:nvPr/>
        </p:nvGraphicFramePr>
        <p:xfrm>
          <a:off x="868680" y="2194560"/>
          <a:ext cx="484632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6263640" y="1691640"/>
            <a:ext cx="5257800" cy="2148840"/>
          </a:xfrm>
          <a:prstGeom prst="roundRect">
            <a:avLst>
              <a:gd name="adj" fmla="val 2979"/>
            </a:avLst>
          </a:prstGeom>
          <a:solidFill>
            <a:srgbClr val="F4F5FB"/>
          </a:solidFill>
          <a:ln/>
          <a:effectLst>
            <a:outerShdw blurRad="76200" dist="25400" dir="5400000" algn="bl" rotWithShape="0">
              <a:srgbClr val="1A1A3D">
                <a:alpha val="8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6537960" y="1874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REVENUE TREND (SAMPLE WEEKS)</a:t>
            </a:r>
            <a:endParaRPr lang="en-US" sz="1000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11" name="Chart 1"/>
          <p:cNvGraphicFramePr/>
          <p:nvPr/>
        </p:nvGraphicFramePr>
        <p:xfrm>
          <a:off x="6492240" y="2194560"/>
          <a:ext cx="484632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7"/>
          <p:cNvSpPr/>
          <p:nvPr/>
        </p:nvSpPr>
        <p:spPr>
          <a:xfrm>
            <a:off x="640080" y="4023360"/>
            <a:ext cx="10881360" cy="2286000"/>
          </a:xfrm>
          <a:prstGeom prst="roundRect">
            <a:avLst>
              <a:gd name="adj" fmla="val 2800"/>
            </a:avLst>
          </a:prstGeom>
          <a:solidFill>
            <a:srgbClr val="F4F5FB"/>
          </a:solidFill>
          <a:ln/>
          <a:effectLst>
            <a:outerShdw blurRad="76200" dist="25400" dir="5400000" algn="bl" rotWithShape="0">
              <a:srgbClr val="1A1A3D">
                <a:alpha val="8000"/>
              </a:srgbClr>
            </a:outerShdw>
          </a:effectLst>
        </p:spPr>
      </p:sp>
      <p:sp>
        <p:nvSpPr>
          <p:cNvPr id="13" name="Text 8"/>
          <p:cNvSpPr txBox="1"/>
          <p:nvPr/>
        </p:nvSpPr>
        <p:spPr>
          <a:xfrm>
            <a:off x="914400" y="42062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 (₹M)</a:t>
            </a:r>
            <a:endParaRPr lang="en-US" sz="1000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14" name="Chart 2"/>
          <p:cNvGraphicFramePr/>
          <p:nvPr/>
        </p:nvGraphicFramePr>
        <p:xfrm>
          <a:off x="868680" y="4526280"/>
          <a:ext cx="1042416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402201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0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Zidio Development  ·  Project FORESIGHT  ·  Client Engagement Submission</a:t>
            </a:r>
            <a:endParaRPr lang="en-US" sz="900" dirty="0"/>
          </a:p>
        </p:txBody>
      </p:sp>
      <p:sp>
        <p:nvSpPr>
          <p:cNvPr id="3" name="Text 0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· CATEGORY PERFORMANCE</a:t>
            </a:r>
            <a:endParaRPr lang="en-US" sz="1100" dirty="0">
              <a:solidFill>
                <a:srgbClr val="FFC000"/>
              </a:solidFill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640080" y="6400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Furniture vs Decor vs Small Appliances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positioning, volume and revenue contribution by product category.</a:t>
            </a:r>
            <a:endParaRPr lang="en-US" sz="1250" dirty="0">
              <a:solidFill>
                <a:srgbClr val="FFC000"/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3474720" cy="2103120"/>
          </a:xfrm>
          <a:prstGeom prst="roundRect">
            <a:avLst>
              <a:gd name="adj" fmla="val 3043"/>
            </a:avLst>
          </a:prstGeom>
          <a:solidFill>
            <a:srgbClr val="F4F5FB"/>
          </a:solidFill>
          <a:ln/>
          <a:effectLst>
            <a:outerShdw blurRad="76200" dist="25400" dir="5400000" algn="bl" rotWithShape="0">
              <a:srgbClr val="1A1A3D">
                <a:alpha val="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914400" y="1874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UNIT PRICE BY CATEGORY (₹)</a:t>
            </a:r>
            <a:endParaRPr lang="en-US" sz="1000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8" name="Chart 0"/>
          <p:cNvGraphicFramePr/>
          <p:nvPr/>
        </p:nvGraphicFramePr>
        <p:xfrm>
          <a:off x="868680" y="2194560"/>
          <a:ext cx="3017520" cy="1508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4297680" y="1691640"/>
            <a:ext cx="3474720" cy="2103120"/>
          </a:xfrm>
          <a:prstGeom prst="roundRect">
            <a:avLst>
              <a:gd name="adj" fmla="val 3043"/>
            </a:avLst>
          </a:prstGeom>
          <a:solidFill>
            <a:srgbClr val="F4F5FB"/>
          </a:solidFill>
          <a:ln/>
          <a:effectLst>
            <a:outerShdw blurRad="76200" dist="25400" dir="5400000" algn="bl" rotWithShape="0">
              <a:srgbClr val="1A1A3D">
                <a:alpha val="8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4572000" y="1874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 BY CATEGORY (M)</a:t>
            </a:r>
            <a:endParaRPr lang="en-US" sz="1000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11" name="Chart 1"/>
          <p:cNvGraphicFramePr/>
          <p:nvPr/>
        </p:nvGraphicFramePr>
        <p:xfrm>
          <a:off x="4526280" y="2194560"/>
          <a:ext cx="3017520" cy="1508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7"/>
          <p:cNvSpPr/>
          <p:nvPr/>
        </p:nvSpPr>
        <p:spPr>
          <a:xfrm>
            <a:off x="7955280" y="1691640"/>
            <a:ext cx="3566160" cy="2103120"/>
          </a:xfrm>
          <a:prstGeom prst="roundRect">
            <a:avLst>
              <a:gd name="adj" fmla="val 3043"/>
            </a:avLst>
          </a:prstGeom>
          <a:solidFill>
            <a:srgbClr val="F4F5FB"/>
          </a:solidFill>
          <a:ln/>
          <a:effectLst>
            <a:outerShdw blurRad="76200" dist="25400" dir="5400000" algn="bl" rotWithShape="0">
              <a:srgbClr val="1A1A3D">
                <a:alpha val="8000"/>
              </a:srgbClr>
            </a:outerShdw>
          </a:effectLst>
        </p:spPr>
      </p:sp>
      <p:sp>
        <p:nvSpPr>
          <p:cNvPr id="13" name="Text 8"/>
          <p:cNvSpPr txBox="1"/>
          <p:nvPr/>
        </p:nvSpPr>
        <p:spPr>
          <a:xfrm>
            <a:off x="8229600" y="1874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 (₹BN)</a:t>
            </a:r>
            <a:endParaRPr lang="en-US" sz="1000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14" name="Chart 2"/>
          <p:cNvGraphicFramePr/>
          <p:nvPr/>
        </p:nvGraphicFramePr>
        <p:xfrm>
          <a:off x="8183880" y="2194560"/>
          <a:ext cx="3108960" cy="1508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Shape 9"/>
          <p:cNvSpPr/>
          <p:nvPr/>
        </p:nvSpPr>
        <p:spPr>
          <a:xfrm>
            <a:off x="640080" y="3977640"/>
            <a:ext cx="5257800" cy="2331720"/>
          </a:xfrm>
          <a:prstGeom prst="roundRect">
            <a:avLst>
              <a:gd name="adj" fmla="val 2745"/>
            </a:avLst>
          </a:prstGeom>
          <a:solidFill>
            <a:srgbClr val="F4F5FB"/>
          </a:solidFill>
          <a:ln/>
          <a:effectLst>
            <a:outerShdw blurRad="76200" dist="25400" dir="5400000" algn="bl" rotWithShape="0">
              <a:srgbClr val="1A1A3D">
                <a:alpha val="8000"/>
              </a:srgbClr>
            </a:outerShdw>
          </a:effectLst>
        </p:spPr>
      </p:sp>
      <p:sp>
        <p:nvSpPr>
          <p:cNvPr id="16" name="Text 10"/>
          <p:cNvSpPr txBox="1"/>
          <p:nvPr/>
        </p:nvSpPr>
        <p:spPr>
          <a:xfrm>
            <a:off x="914400" y="4160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CATEGORY BY SEASON</a:t>
            </a:r>
            <a:endParaRPr lang="en-US" sz="1000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17" name="Chart 3"/>
          <p:cNvGraphicFramePr/>
          <p:nvPr/>
        </p:nvGraphicFramePr>
        <p:xfrm>
          <a:off x="868680" y="4480560"/>
          <a:ext cx="484632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8" name="Shape 11"/>
          <p:cNvSpPr/>
          <p:nvPr/>
        </p:nvSpPr>
        <p:spPr>
          <a:xfrm>
            <a:off x="6263640" y="3977640"/>
            <a:ext cx="5257800" cy="2331720"/>
          </a:xfrm>
          <a:prstGeom prst="roundRect">
            <a:avLst>
              <a:gd name="adj" fmla="val 2745"/>
            </a:avLst>
          </a:prstGeom>
          <a:solidFill>
            <a:srgbClr val="F4F5FB"/>
          </a:solidFill>
          <a:ln/>
          <a:effectLst>
            <a:outerShdw blurRad="76200" dist="25400" dir="5400000" algn="bl" rotWithShape="0">
              <a:srgbClr val="1A1A3D">
                <a:alpha val="8000"/>
              </a:srgbClr>
            </a:outerShdw>
          </a:effectLst>
        </p:spPr>
      </p:sp>
      <p:sp>
        <p:nvSpPr>
          <p:cNvPr id="19" name="Text 12"/>
          <p:cNvSpPr txBox="1"/>
          <p:nvPr/>
        </p:nvSpPr>
        <p:spPr>
          <a:xfrm>
            <a:off x="6537960" y="4160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CATEGORY MIX</a:t>
            </a:r>
            <a:endParaRPr lang="en-US" sz="1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0" name="Text 14"/>
          <p:cNvSpPr txBox="1"/>
          <p:nvPr/>
        </p:nvSpPr>
        <p:spPr>
          <a:xfrm>
            <a:off x="6766560" y="445312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commands a 3–5x higher unit price than Decor or Small Appliances — a premium, considered-purchase category.</a:t>
            </a:r>
            <a:endParaRPr lang="en-US" sz="105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1" name="Text 16"/>
          <p:cNvSpPr txBox="1"/>
          <p:nvPr/>
        </p:nvSpPr>
        <p:spPr>
          <a:xfrm>
            <a:off x="6766560" y="502920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the price gap, Furniture also leads in units sold, driving its outsized 78% revenue share.</a:t>
            </a:r>
            <a:endParaRPr lang="en-US" sz="105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2" name="Text 18"/>
          <p:cNvSpPr txBox="1"/>
          <p:nvPr/>
        </p:nvSpPr>
        <p:spPr>
          <a:xfrm>
            <a:off x="6766560" y="5605272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demand is evenly distributed across seasons (24.7%–25.2%) — no single season concentrates category mix.</a:t>
            </a:r>
            <a:endParaRPr lang="en-US" sz="105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0717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0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Zidio Development  ·  Project FORESIGHT  ·  Client Engagement Submission</a:t>
            </a:r>
            <a:endParaRPr lang="en-US" sz="900" dirty="0"/>
          </a:p>
        </p:txBody>
      </p:sp>
      <p:sp>
        <p:nvSpPr>
          <p:cNvPr id="3" name="Text 0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· SUBCATEGORY DEEP DIVE</a:t>
            </a:r>
            <a:endParaRPr lang="en-US" sz="1100" dirty="0">
              <a:solidFill>
                <a:srgbClr val="FFC000"/>
              </a:solidFill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640080" y="6400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13 Subcategories Across 3 Categories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Sofas, Outdoor Furniture and Storage lead revenue; Furniture dominates the mix.</a:t>
            </a:r>
            <a:endParaRPr lang="en-US" sz="1250" dirty="0">
              <a:solidFill>
                <a:srgbClr val="FFC000"/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6309360" cy="4434840"/>
          </a:xfrm>
          <a:prstGeom prst="roundRect">
            <a:avLst>
              <a:gd name="adj" fmla="val 1443"/>
            </a:avLst>
          </a:prstGeom>
          <a:solidFill>
            <a:srgbClr val="F4F5FB"/>
          </a:solidFill>
          <a:ln/>
          <a:effectLst>
            <a:outerShdw blurRad="76200" dist="25400" dir="5400000" algn="bl" rotWithShape="0">
              <a:srgbClr val="1A1A3D">
                <a:alpha val="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914400" y="1874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SUBCATEGORIES BY REVENUE (₹M)</a:t>
            </a:r>
            <a:endParaRPr lang="en-US" sz="1000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8" name="Chart 0"/>
          <p:cNvGraphicFramePr/>
          <p:nvPr/>
        </p:nvGraphicFramePr>
        <p:xfrm>
          <a:off x="868680" y="2194560"/>
          <a:ext cx="585216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7178040" y="1691640"/>
            <a:ext cx="4343400" cy="2148840"/>
          </a:xfrm>
          <a:prstGeom prst="roundRect">
            <a:avLst>
              <a:gd name="adj" fmla="val 2979"/>
            </a:avLst>
          </a:prstGeom>
          <a:solidFill>
            <a:srgbClr val="F4F5FB"/>
          </a:solidFill>
          <a:ln/>
          <a:effectLst>
            <a:outerShdw blurRad="76200" dist="25400" dir="5400000" algn="bl" rotWithShape="0">
              <a:srgbClr val="1A1A3D">
                <a:alpha val="8000"/>
              </a:srgbClr>
            </a:outerShdw>
          </a:effectLst>
        </p:spPr>
      </p:sp>
      <p:graphicFrame>
        <p:nvGraphicFramePr>
          <p:cNvPr id="10" name="Chart 1"/>
          <p:cNvGraphicFramePr/>
          <p:nvPr/>
        </p:nvGraphicFramePr>
        <p:xfrm>
          <a:off x="7406640" y="2148840"/>
          <a:ext cx="393192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7"/>
          <p:cNvSpPr/>
          <p:nvPr/>
        </p:nvSpPr>
        <p:spPr>
          <a:xfrm>
            <a:off x="7178040" y="3977640"/>
            <a:ext cx="4343400" cy="2148840"/>
          </a:xfrm>
          <a:prstGeom prst="roundRect">
            <a:avLst>
              <a:gd name="adj" fmla="val 2979"/>
            </a:avLst>
          </a:prstGeom>
          <a:solidFill>
            <a:srgbClr val="F4F5FB"/>
          </a:solidFill>
          <a:ln/>
          <a:effectLst>
            <a:outerShdw blurRad="76200" dist="25400" dir="5400000" algn="bl" rotWithShape="0">
              <a:srgbClr val="1A1A3D">
                <a:alpha val="8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7452360" y="4160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STANDS OUT</a:t>
            </a:r>
            <a:endParaRPr lang="en-US" sz="1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" name="Text 6"/>
          <p:cNvSpPr txBox="1"/>
          <p:nvPr/>
        </p:nvSpPr>
        <p:spPr>
          <a:xfrm>
            <a:off x="7452360" y="1874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SHARE BY CATEGORY</a:t>
            </a:r>
            <a:endParaRPr lang="en-US" sz="1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4" name="Text 10"/>
          <p:cNvSpPr txBox="1"/>
          <p:nvPr/>
        </p:nvSpPr>
        <p:spPr>
          <a:xfrm>
            <a:off x="7662672" y="44348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Sofas (₹123M) and Outdoor Furniture (₹114M) are the two biggest single revenue drivers in the catalog.</a:t>
            </a:r>
            <a:endParaRPr lang="en-US" sz="1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5" name="Text 12"/>
          <p:cNvSpPr txBox="1"/>
          <p:nvPr/>
        </p:nvSpPr>
        <p:spPr>
          <a:xfrm>
            <a:off x="7662672" y="500176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Art sells the most units (199K) but ranks low on revenue — a high-volume, low-price line.</a:t>
            </a:r>
            <a:endParaRPr lang="en-US" sz="1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6" name="Text 14"/>
          <p:cNvSpPr txBox="1"/>
          <p:nvPr/>
        </p:nvSpPr>
        <p:spPr>
          <a:xfrm>
            <a:off x="7662672" y="556869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 and Kitchen Appliances trail on both revenue and units — candidates for a portfolio review.</a:t>
            </a:r>
            <a:endParaRPr lang="en-US" sz="10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5422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0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Zidio Development  ·  Project FORESIGHT  ·  Client Engagement Submission</a:t>
            </a:r>
            <a:endParaRPr lang="en-US" sz="900" dirty="0"/>
          </a:p>
        </p:txBody>
      </p:sp>
      <p:sp>
        <p:nvSpPr>
          <p:cNvPr id="3" name="Text 0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· REGIONAL PERFORMANCE</a:t>
            </a:r>
            <a:endParaRPr lang="en-US" sz="1100" dirty="0">
              <a:solidFill>
                <a:srgbClr val="FFC000"/>
              </a:solidFill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640080" y="6400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chemeClr val="tx1">
                    <a:lumMod val="9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 / South / East / West</a:t>
            </a:r>
            <a:endParaRPr lang="en-US" sz="2700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64008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and unit sales are near-identical across all four regions.</a:t>
            </a:r>
            <a:endParaRPr lang="en-US" sz="1250" dirty="0">
              <a:solidFill>
                <a:srgbClr val="FFC000"/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5257800" cy="4434840"/>
          </a:xfrm>
          <a:prstGeom prst="roundRect">
            <a:avLst>
              <a:gd name="adj" fmla="val 1443"/>
            </a:avLst>
          </a:prstGeom>
          <a:solidFill>
            <a:srgbClr val="F4F5FB"/>
          </a:solidFill>
          <a:ln/>
          <a:effectLst>
            <a:outerShdw blurRad="76200" dist="25400" dir="5400000" algn="bl" rotWithShape="0">
              <a:srgbClr val="1A1A3D">
                <a:alpha val="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914400" y="1874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REGION (₹M)</a:t>
            </a:r>
            <a:endParaRPr lang="en-US" sz="10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868680" y="2194560"/>
          <a:ext cx="4846320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914400" y="42519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 BY REGION</a:t>
            </a:r>
            <a:endParaRPr lang="en-US" sz="1000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10" name="Chart 1"/>
          <p:cNvGraphicFramePr/>
          <p:nvPr/>
        </p:nvGraphicFramePr>
        <p:xfrm>
          <a:off x="868680" y="4572000"/>
          <a:ext cx="4846320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Shape 2"/>
          <p:cNvSpPr/>
          <p:nvPr/>
        </p:nvSpPr>
        <p:spPr>
          <a:xfrm>
            <a:off x="6400800" y="1691640"/>
            <a:ext cx="5029200" cy="4480560"/>
          </a:xfrm>
          <a:prstGeom prst="roundRect">
            <a:avLst>
              <a:gd name="adj" fmla="val 2041"/>
            </a:avLst>
          </a:prstGeom>
          <a:solidFill>
            <a:schemeClr val="bg2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537960" y="416052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region field in sales_daily / calendar joins upstream before using regional splits to drive stocking or marketing decisions — any region-level strategy built on this pattern may be acting on a data artifact rather than real demand.</a:t>
            </a:r>
            <a:endParaRPr lang="en-US" sz="115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Text 9"/>
          <p:cNvSpPr txBox="1"/>
          <p:nvPr/>
        </p:nvSpPr>
        <p:spPr>
          <a:xfrm>
            <a:off x="6537960" y="274320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region — East, North, South, West — sits within a 0.15-point band of 25% of revenue and units sold. Real-world regional demand almost never distributes this evenly.</a:t>
            </a:r>
            <a:endParaRPr lang="en-US" sz="12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2" name="Text 7"/>
          <p:cNvSpPr txBox="1"/>
          <p:nvPr/>
        </p:nvSpPr>
        <p:spPr>
          <a:xfrm>
            <a:off x="6537960" y="1874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FLAG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6537960" y="3840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13" name="Text 8"/>
          <p:cNvSpPr txBox="1"/>
          <p:nvPr/>
        </p:nvSpPr>
        <p:spPr>
          <a:xfrm>
            <a:off x="6537960" y="2194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Split This Even Is Unusual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00415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0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Zidio Development  ·  Project FORESIGHT  ·  Client Engagement Submission</a:t>
            </a:r>
            <a:endParaRPr lang="en-US" sz="900" dirty="0"/>
          </a:p>
        </p:txBody>
      </p:sp>
      <p:sp>
        <p:nvSpPr>
          <p:cNvPr id="3" name="Text 0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· REGION × CATEGORY CROSS ANALYSIS</a:t>
            </a:r>
            <a:endParaRPr lang="en-US" sz="1100" dirty="0">
              <a:solidFill>
                <a:srgbClr val="FFC000"/>
              </a:solidFill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640080" y="6400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Where Each Category Performs, By Region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revenue leads in every region by a wide, consistent margin.</a:t>
            </a:r>
            <a:endParaRPr lang="en-US" sz="1250" dirty="0">
              <a:solidFill>
                <a:srgbClr val="FFC000"/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10881360" cy="4434840"/>
          </a:xfrm>
          <a:prstGeom prst="roundRect">
            <a:avLst>
              <a:gd name="adj" fmla="val 1443"/>
            </a:avLst>
          </a:prstGeom>
          <a:solidFill>
            <a:srgbClr val="F4F5FB"/>
          </a:solidFill>
          <a:ln/>
          <a:effectLst>
            <a:outerShdw blurRad="76200" dist="25400" dir="5400000" algn="bl" rotWithShape="0">
              <a:srgbClr val="1A1A3D">
                <a:alpha val="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914400" y="1874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 AND REGION (₹M)</a:t>
            </a:r>
            <a:endParaRPr lang="en-US" sz="1000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8" name="Chart 0"/>
          <p:cNvGraphicFramePr/>
          <p:nvPr/>
        </p:nvGraphicFramePr>
        <p:xfrm>
          <a:off x="868680" y="2194560"/>
          <a:ext cx="1042416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82751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"/>
          <p:cNvSpPr/>
          <p:nvPr/>
        </p:nvSpPr>
        <p:spPr>
          <a:xfrm>
            <a:off x="4206240" y="1682496"/>
            <a:ext cx="3611880" cy="4480560"/>
          </a:xfrm>
          <a:prstGeom prst="roundRect">
            <a:avLst>
              <a:gd name="adj" fmla="val 2041"/>
            </a:avLst>
          </a:prstGeom>
          <a:solidFill>
            <a:schemeClr val="bg2"/>
          </a:solidFill>
          <a:ln/>
        </p:spPr>
      </p:sp>
      <p:sp>
        <p:nvSpPr>
          <p:cNvPr id="2" name="Text 30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Zidio Development  ·  Project FORESIGHT  ·  Client Engagement Submission</a:t>
            </a:r>
            <a:endParaRPr lang="en-US" sz="900" dirty="0"/>
          </a:p>
        </p:txBody>
      </p:sp>
      <p:sp>
        <p:nvSpPr>
          <p:cNvPr id="3" name="Text 0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 · SEASONALITY &amp; HOLIDAY IMPACT</a:t>
            </a:r>
            <a:endParaRPr lang="en-US" sz="1100" dirty="0">
              <a:solidFill>
                <a:srgbClr val="FFC000"/>
              </a:solidFill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640080" y="6400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How Season and Holidays Shift Demand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and Winter lead revenue; the holiday flag shows almost no measurable lift.</a:t>
            </a:r>
            <a:endParaRPr lang="en-US" sz="1250" dirty="0">
              <a:solidFill>
                <a:srgbClr val="FFC000"/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3474720" cy="4434840"/>
          </a:xfrm>
          <a:prstGeom prst="roundRect">
            <a:avLst>
              <a:gd name="adj" fmla="val 1842"/>
            </a:avLst>
          </a:prstGeom>
          <a:solidFill>
            <a:srgbClr val="F4F5FB"/>
          </a:solidFill>
          <a:ln/>
          <a:effectLst>
            <a:outerShdw blurRad="76200" dist="25400" dir="5400000" algn="bl" rotWithShape="0">
              <a:srgbClr val="1A1A3D">
                <a:alpha val="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914400" y="1874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SEASON (₹M)</a:t>
            </a:r>
            <a:endParaRPr lang="en-US" sz="10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868680" y="2194560"/>
          <a:ext cx="301752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914400" y="42062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is the softest season, ~19% below Fall.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4572000" y="1874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 VS NON-HOLIDAY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23317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₹1,689.51</a:t>
            </a:r>
            <a:endParaRPr lang="en-US" sz="26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834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daily revenue — Non-Holiday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33832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₹1,688.43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0" y="3886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daily revenue — Holiday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0" y="44348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₹1.08 gap (0.06%) between holiday and non-holiday days indicates the holiday flag has no measurable effect on daily revenue in this dataset.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955280" y="1691640"/>
            <a:ext cx="3566160" cy="4434840"/>
          </a:xfrm>
          <a:prstGeom prst="roundRect">
            <a:avLst>
              <a:gd name="adj" fmla="val 1795"/>
            </a:avLst>
          </a:prstGeom>
          <a:solidFill>
            <a:srgbClr val="F4F5FB"/>
          </a:solidFill>
          <a:ln/>
          <a:effectLst>
            <a:outerShdw blurRad="76200" dist="25400" dir="5400000" algn="bl" rotWithShape="0">
              <a:srgbClr val="1A1A3D">
                <a:alpha val="8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8229600" y="1874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 BY SEASON, PER CATEGORY</a:t>
            </a:r>
            <a:endParaRPr lang="en-US" sz="1000" dirty="0"/>
          </a:p>
        </p:txBody>
      </p:sp>
      <p:graphicFrame>
        <p:nvGraphicFramePr>
          <p:cNvPr id="19" name="Chart 1"/>
          <p:cNvGraphicFramePr/>
          <p:nvPr/>
        </p:nvGraphicFramePr>
        <p:xfrm>
          <a:off x="8183880" y="2194560"/>
          <a:ext cx="310896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752522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0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Zidio Development  ·  Project FORESIGHT  ·  Client Engagement Submission</a:t>
            </a:r>
            <a:endParaRPr lang="en-US" sz="900" dirty="0"/>
          </a:p>
        </p:txBody>
      </p:sp>
      <p:sp>
        <p:nvSpPr>
          <p:cNvPr id="3" name="Text 0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 · PROMOTIONS &amp; CAMPAIGN EFFECTIVENESS</a:t>
            </a:r>
            <a:endParaRPr lang="en-US" sz="1100" dirty="0">
              <a:solidFill>
                <a:srgbClr val="FFC000"/>
              </a:solidFill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640080" y="6400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Impact of Promo Flag &amp; Named Promo Events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Promoted SKU-days consistently out-earn non-promoted days across every category.</a:t>
            </a:r>
            <a:endParaRPr lang="en-US" sz="1250" dirty="0">
              <a:solidFill>
                <a:srgbClr val="FFC000"/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5257800" cy="4434840"/>
          </a:xfrm>
          <a:prstGeom prst="roundRect">
            <a:avLst>
              <a:gd name="adj" fmla="val 1443"/>
            </a:avLst>
          </a:prstGeom>
          <a:solidFill>
            <a:srgbClr val="F4F5FB"/>
          </a:solidFill>
          <a:ln/>
          <a:effectLst>
            <a:outerShdw blurRad="76200" dist="25400" dir="5400000" algn="bl" rotWithShape="0">
              <a:srgbClr val="1A1A3D">
                <a:alpha val="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914400" y="1874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4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PROMOTION STATUS (₹BN)</a:t>
            </a:r>
            <a:endParaRPr lang="en-US" sz="1000" dirty="0">
              <a:solidFill>
                <a:schemeClr val="accent4">
                  <a:lumMod val="75000"/>
                </a:schemeClr>
              </a:solidFill>
            </a:endParaRPr>
          </a:p>
        </p:txBody>
      </p:sp>
      <p:graphicFrame>
        <p:nvGraphicFramePr>
          <p:cNvPr id="8" name="Chart 0"/>
          <p:cNvGraphicFramePr/>
          <p:nvPr/>
        </p:nvGraphicFramePr>
        <p:xfrm>
          <a:off x="868680" y="2194560"/>
          <a:ext cx="484632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914400" y="40690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i="1" dirty="0">
                <a:solidFill>
                  <a:schemeClr val="accent4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campaigns (Memorial Day, Black Friday, Labor Day, Holiday Countdown, Spring Refresh, New Year Clearance) make up the remainder of the ₹0.12bn promo pool.</a:t>
            </a:r>
            <a:endParaRPr lang="en-US" sz="10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914400" y="4892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4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REVENUE PER PROMO EVENT: PROMOTED VS NOT</a:t>
            </a:r>
            <a:endParaRPr lang="en-US" sz="10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914400" y="52120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chemeClr val="accent4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Promoted days average ₹2.4K–₹2.8K vs ₹1.5K–₹1.6K for non-promoted days across every named event — roughly a 60–70% uplift.</a:t>
            </a:r>
            <a:endParaRPr lang="en-US" sz="11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2" name="Shape 8"/>
          <p:cNvSpPr/>
          <p:nvPr/>
        </p:nvSpPr>
        <p:spPr>
          <a:xfrm>
            <a:off x="6263640" y="1691640"/>
            <a:ext cx="5257800" cy="4434840"/>
          </a:xfrm>
          <a:prstGeom prst="roundRect">
            <a:avLst>
              <a:gd name="adj" fmla="val 1443"/>
            </a:avLst>
          </a:prstGeom>
          <a:solidFill>
            <a:srgbClr val="F4F5FB"/>
          </a:solidFill>
          <a:ln/>
          <a:effectLst>
            <a:outerShdw blurRad="76200" dist="25400" dir="5400000" algn="bl" rotWithShape="0">
              <a:srgbClr val="1A1A3D">
                <a:alpha val="8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6537960" y="1874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4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SHARE OF REVENUE BY CATEGORY</a:t>
            </a:r>
            <a:endParaRPr lang="en-US" sz="1000" dirty="0">
              <a:solidFill>
                <a:schemeClr val="accent4">
                  <a:lumMod val="75000"/>
                </a:schemeClr>
              </a:solidFill>
            </a:endParaRPr>
          </a:p>
        </p:txBody>
      </p:sp>
      <p:graphicFrame>
        <p:nvGraphicFramePr>
          <p:cNvPr id="14" name="Chart 1"/>
          <p:cNvGraphicFramePr/>
          <p:nvPr/>
        </p:nvGraphicFramePr>
        <p:xfrm>
          <a:off x="6492240" y="2194560"/>
          <a:ext cx="48463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ext 10"/>
          <p:cNvSpPr txBox="1"/>
          <p:nvPr/>
        </p:nvSpPr>
        <p:spPr>
          <a:xfrm>
            <a:off x="6537960" y="47091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chemeClr val="accent4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62–65% of every category's revenue is generated on promoted SKU-days — promotions are not a marginal tactic here, they are the primary revenue engine.</a:t>
            </a:r>
            <a:endParaRPr lang="en-US" sz="1100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54145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0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Zidio Development  ·  Project FORESIGHT  ·  Client Engagement Submission</a:t>
            </a:r>
            <a:endParaRPr lang="en-US" sz="900" dirty="0"/>
          </a:p>
        </p:txBody>
      </p:sp>
      <p:sp>
        <p:nvSpPr>
          <p:cNvPr id="3" name="Text 0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 · PRICING &amp; DISCOUNT ANALYSIS</a:t>
            </a:r>
            <a:endParaRPr lang="en-US" sz="1100" dirty="0">
              <a:solidFill>
                <a:srgbClr val="FFC000"/>
              </a:solidFill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640080" y="6400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Discounting Behaviour and Realized Price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is discounted hardest even though it commands the highest list price.</a:t>
            </a:r>
            <a:endParaRPr lang="en-US" sz="1250" dirty="0">
              <a:solidFill>
                <a:srgbClr val="FFC000"/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5257800" cy="4434840"/>
          </a:xfrm>
          <a:prstGeom prst="roundRect">
            <a:avLst>
              <a:gd name="adj" fmla="val 1443"/>
            </a:avLst>
          </a:prstGeom>
          <a:solidFill>
            <a:srgbClr val="F4F5FB"/>
          </a:solidFill>
          <a:ln/>
          <a:effectLst>
            <a:outerShdw blurRad="76200" dist="25400" dir="5400000" algn="bl" rotWithShape="0">
              <a:srgbClr val="1A1A3D">
                <a:alpha val="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914400" y="1874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DISCOUNT % BY CATEGORY</a:t>
            </a:r>
            <a:endParaRPr lang="en-US" sz="1000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8" name="Chart 0"/>
          <p:cNvGraphicFramePr/>
          <p:nvPr/>
        </p:nvGraphicFramePr>
        <p:xfrm>
          <a:off x="868680" y="2194560"/>
          <a:ext cx="484632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914400" y="43434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Furniture's 38.3% average discount is 7–8 points higher than Decor or Small Appliances — worth checking whether this is protecting margin or eroding it, given Furniture is also the highest-priced category.</a:t>
            </a:r>
            <a:endParaRPr lang="en-US" sz="11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Shape 6"/>
          <p:cNvSpPr/>
          <p:nvPr/>
        </p:nvSpPr>
        <p:spPr>
          <a:xfrm>
            <a:off x="6263640" y="1691640"/>
            <a:ext cx="5257800" cy="4434840"/>
          </a:xfrm>
          <a:prstGeom prst="roundRect">
            <a:avLst>
              <a:gd name="adj" fmla="val 1443"/>
            </a:avLst>
          </a:prstGeom>
          <a:solidFill>
            <a:srgbClr val="F4F5FB"/>
          </a:solidFill>
          <a:ln/>
          <a:effectLst>
            <a:outerShdw blurRad="76200" dist="25400" dir="5400000" algn="bl" rotWithShape="0">
              <a:srgbClr val="1A1A3D">
                <a:alpha val="8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6537960" y="1874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REALIZED UNIT PRICE OVER TIME (₹)</a:t>
            </a:r>
            <a:endParaRPr lang="en-US" sz="1000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12" name="Chart 1"/>
          <p:cNvGraphicFramePr/>
          <p:nvPr/>
        </p:nvGraphicFramePr>
        <p:xfrm>
          <a:off x="6492240" y="2194560"/>
          <a:ext cx="48463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 8"/>
          <p:cNvSpPr txBox="1"/>
          <p:nvPr/>
        </p:nvSpPr>
        <p:spPr>
          <a:xfrm>
            <a:off x="6537960" y="47091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Realized price is essentially flat (₹302.5–₹306.4) across six years — a ₹4 range on a ₹300+ base. Pricing power has not moved despite category and discount shifts.</a:t>
            </a:r>
            <a:endParaRPr lang="en-US" sz="11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6243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2"/>
          <p:cNvSpPr/>
          <p:nvPr/>
        </p:nvSpPr>
        <p:spPr>
          <a:xfrm>
            <a:off x="7955280" y="1668780"/>
            <a:ext cx="3611880" cy="4480560"/>
          </a:xfrm>
          <a:prstGeom prst="roundRect">
            <a:avLst>
              <a:gd name="adj" fmla="val 2041"/>
            </a:avLst>
          </a:prstGeom>
          <a:solidFill>
            <a:schemeClr val="bg2"/>
          </a:solidFill>
          <a:ln/>
        </p:spPr>
      </p:sp>
      <p:sp>
        <p:nvSpPr>
          <p:cNvPr id="2" name="Text 30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Zidio Development  ·  Project FORESIGHT  ·  Client Engagement Submission</a:t>
            </a:r>
            <a:endParaRPr lang="en-US" sz="900" dirty="0"/>
          </a:p>
        </p:txBody>
      </p:sp>
      <p:sp>
        <p:nvSpPr>
          <p:cNvPr id="3" name="Text 0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· INVENTORY &amp; STOCKOUT ANALYSIS</a:t>
            </a:r>
            <a:endParaRPr lang="en-US" sz="1100" dirty="0">
              <a:solidFill>
                <a:srgbClr val="FFC000"/>
              </a:solidFill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640080" y="6400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On-Hand Units, Reorder Point &amp; Stockout Risk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and Decor stock out far more often than Small Appliances.</a:t>
            </a:r>
            <a:endParaRPr lang="en-US" sz="1250" dirty="0">
              <a:solidFill>
                <a:srgbClr val="FFC000"/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3474720" cy="4434840"/>
          </a:xfrm>
          <a:prstGeom prst="roundRect">
            <a:avLst>
              <a:gd name="adj" fmla="val 1842"/>
            </a:avLst>
          </a:prstGeom>
          <a:solidFill>
            <a:srgbClr val="F4F5FB"/>
          </a:solidFill>
          <a:ln/>
          <a:effectLst>
            <a:outerShdw blurRad="76200" dist="25400" dir="5400000" algn="bl" rotWithShape="0">
              <a:srgbClr val="1A1A3D">
                <a:alpha val="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914400" y="1874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RATE BY CATEGORY</a:t>
            </a:r>
            <a:endParaRPr lang="en-US" sz="1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914400" y="42519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stocks out on 43% of item-days — the single highest risk category.</a:t>
            </a:r>
            <a:endParaRPr lang="en-US" sz="105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4297680" y="1691640"/>
            <a:ext cx="3474720" cy="4434840"/>
          </a:xfrm>
          <a:prstGeom prst="roundRect">
            <a:avLst>
              <a:gd name="adj" fmla="val 1842"/>
            </a:avLst>
          </a:prstGeom>
          <a:solidFill>
            <a:srgbClr val="F4F5FB"/>
          </a:solidFill>
          <a:ln/>
          <a:effectLst>
            <a:outerShdw blurRad="76200" dist="25400" dir="5400000" algn="bl" rotWithShape="0">
              <a:srgbClr val="1A1A3D">
                <a:alpha val="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572000" y="1874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ON-HAND INVENTORY OVER TIME (M UNITS)</a:t>
            </a:r>
            <a:endParaRPr lang="en-US" sz="1000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11" name="Chart 1"/>
          <p:cNvGraphicFramePr/>
          <p:nvPr/>
        </p:nvGraphicFramePr>
        <p:xfrm>
          <a:off x="4526280" y="2194560"/>
          <a:ext cx="301752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4572000" y="42519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i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roughly doubled from 2021 to 2023 and has stayed elevated — yet stockout rates remain high, suggesting a mismatch between what's stocked and what's in demand.</a:t>
            </a:r>
            <a:endParaRPr lang="en-US" sz="1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4" name="Text 10"/>
          <p:cNvSpPr txBox="1"/>
          <p:nvPr/>
        </p:nvSpPr>
        <p:spPr>
          <a:xfrm>
            <a:off x="8229600" y="1874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RATE BY REGION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8229600" y="22860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~0.37M</a:t>
            </a:r>
            <a:endParaRPr lang="en-US" sz="3000" dirty="0"/>
          </a:p>
        </p:txBody>
      </p:sp>
      <p:sp>
        <p:nvSpPr>
          <p:cNvPr id="16" name="Text 12"/>
          <p:cNvSpPr txBox="1"/>
          <p:nvPr/>
        </p:nvSpPr>
        <p:spPr>
          <a:xfrm>
            <a:off x="8229600" y="2880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instances — identical across East, North, South and West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0" y="365760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mirrors the even regional revenue split flagged earlier — stockout timing appears driven by category and inventory policy, not by region.</a:t>
            </a:r>
            <a:endParaRPr lang="en-US" sz="11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graphicFrame>
        <p:nvGraphicFramePr>
          <p:cNvPr id="18" name="Chart 0"/>
          <p:cNvGraphicFramePr/>
          <p:nvPr/>
        </p:nvGraphicFramePr>
        <p:xfrm>
          <a:off x="868680" y="2194560"/>
          <a:ext cx="301752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09611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 · SKU PERFORMANCE</a:t>
            </a:r>
            <a:endParaRPr lang="en-US" sz="1100" dirty="0">
              <a:solidFill>
                <a:srgbClr val="FFC000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Best and Worst Performing SKUs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set of SKUs anchor top-line revenue; a long tail contributes comparatively little.</a:t>
            </a:r>
            <a:endParaRPr lang="en-US" sz="1250" dirty="0">
              <a:solidFill>
                <a:srgbClr val="FFC000"/>
              </a:solidFill>
            </a:endParaRPr>
          </a:p>
        </p:txBody>
      </p:sp>
      <p:sp>
        <p:nvSpPr>
          <p:cNvPr id="7" name="Shape 6"/>
          <p:cNvSpPr/>
          <p:nvPr/>
        </p:nvSpPr>
        <p:spPr>
          <a:xfrm>
            <a:off x="7178040" y="1691640"/>
            <a:ext cx="4343400" cy="2148840"/>
          </a:xfrm>
          <a:prstGeom prst="roundRect">
            <a:avLst>
              <a:gd name="adj" fmla="val 2979"/>
            </a:avLst>
          </a:prstGeom>
          <a:solidFill>
            <a:srgbClr val="F4F5FB"/>
          </a:solidFill>
          <a:ln/>
          <a:effectLst>
            <a:outerShdw blurRad="76200" dist="25400" dir="5400000" algn="bl" rotWithShape="0">
              <a:srgbClr val="1A1A3D">
                <a:alpha val="8000"/>
              </a:srgbClr>
            </a:outerShdw>
          </a:effectLst>
        </p:spPr>
      </p:sp>
      <p:sp>
        <p:nvSpPr>
          <p:cNvPr id="8" name="Text 7"/>
          <p:cNvSpPr txBox="1"/>
          <p:nvPr/>
        </p:nvSpPr>
        <p:spPr>
          <a:xfrm>
            <a:off x="7452360" y="1874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COUNT BY CATEGORY</a:t>
            </a:r>
            <a:endParaRPr lang="en-US" sz="1000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9" name="Chart 1"/>
          <p:cNvGraphicFramePr/>
          <p:nvPr/>
        </p:nvGraphicFramePr>
        <p:xfrm>
          <a:off x="7406640" y="2148840"/>
          <a:ext cx="393192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 9"/>
          <p:cNvSpPr txBox="1"/>
          <p:nvPr/>
        </p:nvSpPr>
        <p:spPr>
          <a:xfrm>
            <a:off x="7452360" y="4160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PLANNING</a:t>
            </a:r>
            <a:endParaRPr lang="en-US" sz="10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" name="Text 10"/>
          <p:cNvSpPr txBox="1"/>
          <p:nvPr/>
        </p:nvSpPr>
        <p:spPr>
          <a:xfrm>
            <a:off x="7452360" y="448056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SKUs (86, 43% of catalog) carry both the highest revenue concentration and the highest stockout rate — reinforcing Furniture as the top priority for the reorder-planning system.</a:t>
            </a:r>
            <a:endParaRPr lang="en-US" sz="11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2" name="Shape 3"/>
          <p:cNvSpPr/>
          <p:nvPr/>
        </p:nvSpPr>
        <p:spPr>
          <a:xfrm>
            <a:off x="640080" y="1691640"/>
            <a:ext cx="6309360" cy="4434840"/>
          </a:xfrm>
          <a:prstGeom prst="roundRect">
            <a:avLst>
              <a:gd name="adj" fmla="val 1443"/>
            </a:avLst>
          </a:prstGeom>
          <a:solidFill>
            <a:srgbClr val="F4F5FB"/>
          </a:solidFill>
          <a:ln/>
          <a:effectLst>
            <a:outerShdw blurRad="76200" dist="25400" dir="5400000" algn="bl" rotWithShape="0">
              <a:srgbClr val="1A1A3D">
                <a:alpha val="8000"/>
              </a:srgbClr>
            </a:outerShdw>
          </a:effectLst>
        </p:spPr>
      </p:sp>
      <p:sp>
        <p:nvSpPr>
          <p:cNvPr id="13" name="Text 4"/>
          <p:cNvSpPr txBox="1"/>
          <p:nvPr/>
        </p:nvSpPr>
        <p:spPr>
          <a:xfrm>
            <a:off x="914400" y="1874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SKUS BY REVENUE (₹M, ILLUSTRATIVE)*</a:t>
            </a:r>
            <a:endParaRPr lang="en-US" sz="1000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14" name="Chart 0"/>
          <p:cNvGraphicFramePr/>
          <p:nvPr/>
        </p:nvGraphicFramePr>
        <p:xfrm>
          <a:off x="868680" y="2194560"/>
          <a:ext cx="585216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ext 30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Zidio Development  ·  Project FORESIGHT  ·  Client Engagement Submission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5620473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 · PRODUCT LIFECYCLE &amp; LAUNCH ANALYSIS</a:t>
            </a:r>
            <a:endParaRPr lang="en-US" sz="1100" dirty="0">
              <a:solidFill>
                <a:srgbClr val="FFC000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How Launch Timing Relates to Performance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SKUs from 2019 and 2021 still anchor the majority of revenue.</a:t>
            </a:r>
            <a:endParaRPr lang="en-US" sz="1250" dirty="0">
              <a:solidFill>
                <a:srgbClr val="FFC000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257800" cy="4434840"/>
          </a:xfrm>
          <a:prstGeom prst="roundRect">
            <a:avLst>
              <a:gd name="adj" fmla="val 1443"/>
            </a:avLst>
          </a:prstGeom>
          <a:solidFill>
            <a:srgbClr val="F4F5FB"/>
          </a:solidFill>
          <a:ln/>
          <a:effectLst>
            <a:outerShdw blurRad="76200" dist="25400" dir="5400000" algn="bl" rotWithShape="0">
              <a:srgbClr val="1A1A3D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1874520"/>
            <a:ext cx="31505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SKU LAUNCH-YEAR COHORT (₹BN)</a:t>
            </a:r>
            <a:endParaRPr lang="en-US" sz="1000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7" name="Chart 0"/>
          <p:cNvGraphicFramePr/>
          <p:nvPr/>
        </p:nvGraphicFramePr>
        <p:xfrm>
          <a:off x="868680" y="2194560"/>
          <a:ext cx="484632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914400" y="42062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2019 and 2021 launch cohorts alone generate ~₹0.44bn — roughly 70% of total revenue — from SKUs that are now several years old.</a:t>
            </a:r>
            <a:endParaRPr lang="en-US" sz="105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257800" cy="4434840"/>
          </a:xfrm>
          <a:prstGeom prst="roundRect">
            <a:avLst>
              <a:gd name="adj" fmla="val 1443"/>
            </a:avLst>
          </a:prstGeom>
          <a:solidFill>
            <a:srgbClr val="F4F5FB"/>
          </a:solidFill>
          <a:ln/>
          <a:effectLst>
            <a:outerShdw blurRad="76200" dist="25400" dir="5400000" algn="bl" rotWithShape="0">
              <a:srgbClr val="1A1A3D">
                <a:alpha val="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537960" y="1874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DAILY UNITS SOLD BY DAYS-SINCE-LAUNCH</a:t>
            </a:r>
            <a:endParaRPr lang="en-US" sz="1000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11" name="Chart 1"/>
          <p:cNvGraphicFramePr/>
          <p:nvPr/>
        </p:nvGraphicFramePr>
        <p:xfrm>
          <a:off x="6492240" y="2194560"/>
          <a:ext cx="48463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6537960" y="47091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is highly volatile across the early product lifecycle rather than following a smooth launch curve — a signal to build category-level fallbacks for new-SKU forecasting.</a:t>
            </a:r>
            <a:endParaRPr lang="en-US" sz="11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3" name="Text 30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Zidio Development  ·  Project FORESIGHT  ·  Client Engagement Submission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7257543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100" dirty="0">
              <a:solidFill>
                <a:srgbClr val="FFC000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417320" y="15270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is the business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9659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of revenue, the highest unit price, and the highest stockout rate (43%) — it should anchor forecasting and reorder priorities.</a:t>
            </a:r>
            <a:endParaRPr lang="en-US" sz="11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446520" y="15087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223760" y="15270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 drive ~65% of revenue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19659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category earns roughly two-thirds of its revenue on promoted SKU-days — promotion isn't a lever, it's the baseline.</a:t>
            </a:r>
            <a:endParaRPr lang="en-US" sz="11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40080" y="33375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1417320" y="33558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Holidays show no measurable lift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7947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0.06% gap between holiday and non-holiday average daily revenue — the holiday flag isn't a useful demand signal on its own.</a:t>
            </a:r>
            <a:endParaRPr lang="en-US" sz="11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446520" y="33375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7223760" y="33558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and stockout splits are suspiciously even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37947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units, and stockout counts sit within a hair of 25% across all four regions — worth validating before it drives regional strategy.</a:t>
            </a:r>
            <a:endParaRPr lang="en-US" sz="11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40080" y="51663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1417320" y="51846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grew, stockouts didn't fall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56235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On-hand units roughly doubled since 2021, yet Furniture and Decor still stock out on 39–43% of item-days — a stocking-mix problem, not a volume problem.</a:t>
            </a:r>
            <a:endParaRPr lang="en-US" sz="11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6446520" y="51663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7223760" y="51846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concentration is legacy-driven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56235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SKUs launched in 2019 and 2021 still generate ~70% of total revenue — new-SKU demand needs its own forecasting fallback.</a:t>
            </a:r>
            <a:endParaRPr lang="en-US" sz="11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sp>
        <p:nvSpPr>
          <p:cNvPr id="24" name="Text 30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Zidio Development  ·  Project FORESIGHT  ·  Client Engagement Submission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3765344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/>
        </p:nvSpPr>
        <p:spPr>
          <a:xfrm>
            <a:off x="640080" y="6400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700" dirty="0"/>
          </a:p>
        </p:txBody>
      </p:sp>
      <p:sp>
        <p:nvSpPr>
          <p:cNvPr id="3" name="Text 2"/>
          <p:cNvSpPr txBox="1"/>
          <p:nvPr/>
        </p:nvSpPr>
        <p:spPr>
          <a:xfrm>
            <a:off x="64008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this analysis into the FORESIGHT forecasting and risk system.</a:t>
            </a:r>
            <a:endParaRPr lang="en-US" sz="1250" dirty="0">
              <a:solidFill>
                <a:srgbClr val="FFC000"/>
              </a:solidFill>
            </a:endParaRPr>
          </a:p>
        </p:txBody>
      </p:sp>
      <p:sp>
        <p:nvSpPr>
          <p:cNvPr id="4" name="Shape 3"/>
          <p:cNvSpPr/>
          <p:nvPr/>
        </p:nvSpPr>
        <p:spPr>
          <a:xfrm>
            <a:off x="640080" y="1737360"/>
            <a:ext cx="3429000" cy="1965960"/>
          </a:xfrm>
          <a:prstGeom prst="roundRect">
            <a:avLst>
              <a:gd name="adj" fmla="val 3256"/>
            </a:avLst>
          </a:prstGeom>
          <a:solidFill>
            <a:srgbClr val="F4F5FB"/>
          </a:solidFill>
          <a:ln/>
          <a:effectLst>
            <a:outerShdw blurRad="76200" dist="25400" dir="5400000" algn="bl" rotWithShape="0">
              <a:srgbClr val="1A1A3D">
                <a:alpha val="8000"/>
              </a:srgbClr>
            </a:outerShdw>
          </a:effectLst>
        </p:spPr>
      </p:sp>
      <p:sp>
        <p:nvSpPr>
          <p:cNvPr id="5" name="Text 5"/>
          <p:cNvSpPr txBox="1"/>
          <p:nvPr/>
        </p:nvSpPr>
        <p:spPr>
          <a:xfrm>
            <a:off x="8686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Text 6"/>
          <p:cNvSpPr txBox="1"/>
          <p:nvPr/>
        </p:nvSpPr>
        <p:spPr>
          <a:xfrm>
            <a:off x="868680" y="25603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Furniture in the risk model</a:t>
            </a:r>
            <a:endParaRPr lang="en-US" sz="13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7" name="Text 7"/>
          <p:cNvSpPr txBox="1"/>
          <p:nvPr/>
        </p:nvSpPr>
        <p:spPr>
          <a:xfrm>
            <a:off x="868680" y="303580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revenue share and highest stockout rate — the biggest single lever for the reorder-planning system.</a:t>
            </a:r>
            <a:endParaRPr lang="en-US" sz="1000" dirty="0"/>
          </a:p>
        </p:txBody>
      </p:sp>
      <p:sp>
        <p:nvSpPr>
          <p:cNvPr id="8" name="Shape 8"/>
          <p:cNvSpPr/>
          <p:nvPr/>
        </p:nvSpPr>
        <p:spPr>
          <a:xfrm>
            <a:off x="4343400" y="1737360"/>
            <a:ext cx="3429000" cy="1965960"/>
          </a:xfrm>
          <a:prstGeom prst="roundRect">
            <a:avLst>
              <a:gd name="adj" fmla="val 3256"/>
            </a:avLst>
          </a:prstGeom>
          <a:solidFill>
            <a:srgbClr val="F4F5FB"/>
          </a:solidFill>
          <a:ln/>
          <a:effectLst>
            <a:outerShdw blurRad="76200" dist="25400" dir="5400000" algn="bl" rotWithShape="0">
              <a:srgbClr val="1A1A3D">
                <a:alpha val="8000"/>
              </a:srgbClr>
            </a:outerShdw>
          </a:effectLst>
        </p:spPr>
      </p:sp>
      <p:sp>
        <p:nvSpPr>
          <p:cNvPr id="9" name="Text 10"/>
          <p:cNvSpPr txBox="1"/>
          <p:nvPr/>
        </p:nvSpPr>
        <p:spPr>
          <a:xfrm>
            <a:off x="45720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Text 11"/>
          <p:cNvSpPr txBox="1"/>
          <p:nvPr/>
        </p:nvSpPr>
        <p:spPr>
          <a:xfrm>
            <a:off x="4572000" y="25603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promotion as a baseline feature, not an event flag</a:t>
            </a:r>
            <a:endParaRPr lang="en-US" sz="13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1" name="Text 12"/>
          <p:cNvSpPr txBox="1"/>
          <p:nvPr/>
        </p:nvSpPr>
        <p:spPr>
          <a:xfrm>
            <a:off x="4572000" y="303580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~65% of revenue promo-driven, forecasts must model promoted vs non-promoted demand as separate regimes.</a:t>
            </a:r>
            <a:endParaRPr lang="en-US" sz="1000" dirty="0"/>
          </a:p>
        </p:txBody>
      </p:sp>
      <p:sp>
        <p:nvSpPr>
          <p:cNvPr id="12" name="Shape 13"/>
          <p:cNvSpPr/>
          <p:nvPr/>
        </p:nvSpPr>
        <p:spPr>
          <a:xfrm>
            <a:off x="8046720" y="1737360"/>
            <a:ext cx="3429000" cy="1965960"/>
          </a:xfrm>
          <a:prstGeom prst="roundRect">
            <a:avLst>
              <a:gd name="adj" fmla="val 3256"/>
            </a:avLst>
          </a:prstGeom>
          <a:solidFill>
            <a:srgbClr val="F4F5FB"/>
          </a:solidFill>
          <a:ln/>
          <a:effectLst>
            <a:outerShdw blurRad="76200" dist="25400" dir="5400000" algn="bl" rotWithShape="0">
              <a:srgbClr val="1A1A3D">
                <a:alpha val="8000"/>
              </a:srgbClr>
            </a:outerShdw>
          </a:effectLst>
        </p:spPr>
      </p:sp>
      <p:sp>
        <p:nvSpPr>
          <p:cNvPr id="13" name="Text 15"/>
          <p:cNvSpPr txBox="1"/>
          <p:nvPr/>
        </p:nvSpPr>
        <p:spPr>
          <a:xfrm>
            <a:off x="82753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4" name="Text 16"/>
          <p:cNvSpPr txBox="1"/>
          <p:nvPr/>
        </p:nvSpPr>
        <p:spPr>
          <a:xfrm>
            <a:off x="8275320" y="25603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region field upstream</a:t>
            </a:r>
            <a:endParaRPr lang="en-US" sz="13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5" name="Text 17"/>
          <p:cNvSpPr txBox="1"/>
          <p:nvPr/>
        </p:nvSpPr>
        <p:spPr>
          <a:xfrm>
            <a:off x="8275320" y="303580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sales_daily / calendar join before using regional splits for stocking or marketing decisions.</a:t>
            </a:r>
            <a:endParaRPr lang="en-US" sz="1000" dirty="0"/>
          </a:p>
        </p:txBody>
      </p:sp>
      <p:sp>
        <p:nvSpPr>
          <p:cNvPr id="16" name="Shape 18"/>
          <p:cNvSpPr/>
          <p:nvPr/>
        </p:nvSpPr>
        <p:spPr>
          <a:xfrm>
            <a:off x="640080" y="3977640"/>
            <a:ext cx="3429000" cy="1965960"/>
          </a:xfrm>
          <a:prstGeom prst="roundRect">
            <a:avLst>
              <a:gd name="adj" fmla="val 3256"/>
            </a:avLst>
          </a:prstGeom>
          <a:solidFill>
            <a:srgbClr val="F4F5FB"/>
          </a:solidFill>
          <a:ln/>
          <a:effectLst>
            <a:outerShdw blurRad="76200" dist="25400" dir="5400000" algn="bl" rotWithShape="0">
              <a:srgbClr val="1A1A3D">
                <a:alpha val="8000"/>
              </a:srgbClr>
            </a:outerShdw>
          </a:effectLst>
        </p:spPr>
      </p:sp>
      <p:sp>
        <p:nvSpPr>
          <p:cNvPr id="17" name="Text 20"/>
          <p:cNvSpPr txBox="1"/>
          <p:nvPr/>
        </p:nvSpPr>
        <p:spPr>
          <a:xfrm>
            <a:off x="86868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8" name="Text 21"/>
          <p:cNvSpPr txBox="1"/>
          <p:nvPr/>
        </p:nvSpPr>
        <p:spPr>
          <a:xfrm>
            <a:off x="868680" y="48006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new-SKU fallback forecast</a:t>
            </a:r>
            <a:endParaRPr lang="en-US" sz="13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9" name="Text 22"/>
          <p:cNvSpPr txBox="1"/>
          <p:nvPr/>
        </p:nvSpPr>
        <p:spPr>
          <a:xfrm>
            <a:off x="868680" y="527608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Early-lifecycle demand is volatile; blend category-level patterns for SKUs with limited history.</a:t>
            </a:r>
            <a:endParaRPr lang="en-US" sz="1000" dirty="0"/>
          </a:p>
        </p:txBody>
      </p:sp>
      <p:sp>
        <p:nvSpPr>
          <p:cNvPr id="20" name="Shape 23"/>
          <p:cNvSpPr/>
          <p:nvPr/>
        </p:nvSpPr>
        <p:spPr>
          <a:xfrm>
            <a:off x="4343400" y="3977640"/>
            <a:ext cx="3429000" cy="1965960"/>
          </a:xfrm>
          <a:prstGeom prst="roundRect">
            <a:avLst>
              <a:gd name="adj" fmla="val 3256"/>
            </a:avLst>
          </a:prstGeom>
          <a:solidFill>
            <a:srgbClr val="F4F5FB"/>
          </a:solidFill>
          <a:ln/>
          <a:effectLst>
            <a:outerShdw blurRad="76200" dist="25400" dir="5400000" algn="bl" rotWithShape="0">
              <a:srgbClr val="1A1A3D">
                <a:alpha val="8000"/>
              </a:srgbClr>
            </a:outerShdw>
          </a:effectLst>
        </p:spPr>
      </p:sp>
      <p:sp>
        <p:nvSpPr>
          <p:cNvPr id="21" name="Text 25"/>
          <p:cNvSpPr txBox="1"/>
          <p:nvPr/>
        </p:nvSpPr>
        <p:spPr>
          <a:xfrm>
            <a:off x="457200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2" name="Text 26"/>
          <p:cNvSpPr txBox="1"/>
          <p:nvPr/>
        </p:nvSpPr>
        <p:spPr>
          <a:xfrm>
            <a:off x="4572000" y="48006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Re-balance stock toward demand, not just volume</a:t>
            </a:r>
            <a:endParaRPr lang="en-US" sz="13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" name="Text 27"/>
          <p:cNvSpPr txBox="1"/>
          <p:nvPr/>
        </p:nvSpPr>
        <p:spPr>
          <a:xfrm>
            <a:off x="4572000" y="527608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nearly doubled since 2021 without lowering stockout rates — the mix, not the quantity, needs attention.</a:t>
            </a:r>
            <a:endParaRPr lang="en-US" sz="1000" dirty="0"/>
          </a:p>
        </p:txBody>
      </p:sp>
      <p:sp>
        <p:nvSpPr>
          <p:cNvPr id="24" name="Shape 28"/>
          <p:cNvSpPr/>
          <p:nvPr/>
        </p:nvSpPr>
        <p:spPr>
          <a:xfrm>
            <a:off x="8046720" y="3977640"/>
            <a:ext cx="3429000" cy="1965960"/>
          </a:xfrm>
          <a:prstGeom prst="roundRect">
            <a:avLst>
              <a:gd name="adj" fmla="val 3256"/>
            </a:avLst>
          </a:prstGeom>
          <a:solidFill>
            <a:srgbClr val="F4F5FB"/>
          </a:solidFill>
          <a:ln/>
          <a:effectLst>
            <a:outerShdw blurRad="76200" dist="25400" dir="5400000" algn="bl" rotWithShape="0">
              <a:srgbClr val="1A1A3D">
                <a:alpha val="8000"/>
              </a:srgbClr>
            </a:outerShdw>
          </a:effectLst>
        </p:spPr>
      </p:sp>
      <p:sp>
        <p:nvSpPr>
          <p:cNvPr id="25" name="Text 30"/>
          <p:cNvSpPr txBox="1"/>
          <p:nvPr/>
        </p:nvSpPr>
        <p:spPr>
          <a:xfrm>
            <a:off x="827532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6" name="Text 31"/>
          <p:cNvSpPr txBox="1"/>
          <p:nvPr/>
        </p:nvSpPr>
        <p:spPr>
          <a:xfrm>
            <a:off x="8275320" y="48006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Re-test the holiday flag before using it as a signal</a:t>
            </a:r>
            <a:endParaRPr lang="en-US" sz="13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7" name="Text 32"/>
          <p:cNvSpPr txBox="1"/>
          <p:nvPr/>
        </p:nvSpPr>
        <p:spPr>
          <a:xfrm>
            <a:off x="8275320" y="527608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measurable lift was found; either refine the definition or drop it from the risk-scoring logic.</a:t>
            </a:r>
            <a:endParaRPr lang="en-US" sz="1000" dirty="0"/>
          </a:p>
        </p:txBody>
      </p:sp>
      <p:sp>
        <p:nvSpPr>
          <p:cNvPr id="28" name="Text 30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Zidio Development  ·  Project FORESIGHT  ·  Client Engagement Submission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29385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pass across all </a:t>
            </a:r>
            <a:r>
              <a:rPr lang="en-US" sz="1300" dirty="0" smtClean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</a:t>
            </a:r>
            <a:r>
              <a:rPr lang="en-US" sz="13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 of the FORESIGHT report</a:t>
            </a:r>
            <a:endParaRPr lang="en-US" sz="1300" dirty="0">
              <a:solidFill>
                <a:srgbClr val="FFC000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3FA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errors found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corrected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6002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7373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0" y="2606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/ label mismatches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8160" y="16002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17373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8366760" y="2606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still open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(this review)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611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Status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4023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prior spelling issues (campaingns, cathegory, Catgory, Inventry, recorder_point) are corrected.</a:t>
            </a:r>
            <a:endParaRPr lang="en-US" sz="135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Discount, Total Units vs List Price, Stockout Rate, and Lead Time axis labels now match their data.</a:t>
            </a:r>
            <a:endParaRPr lang="en-US" sz="135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smaller issues remain — none blocking, all quick fixes. Detailed on the next page.</a:t>
            </a:r>
            <a:endParaRPr lang="en-US" sz="135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5" name="Text 30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Zidio Development  ·  Project FORESIGHT  ·  Client Engagement Submission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9821906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56953" y="1803862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3" name="Text 5"/>
          <p:cNvSpPr txBox="1"/>
          <p:nvPr/>
        </p:nvSpPr>
        <p:spPr>
          <a:xfrm>
            <a:off x="615141" y="3038301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100" dirty="0"/>
          </a:p>
        </p:txBody>
      </p:sp>
      <p:sp>
        <p:nvSpPr>
          <p:cNvPr id="4" name="Text 6"/>
          <p:cNvSpPr txBox="1"/>
          <p:nvPr/>
        </p:nvSpPr>
        <p:spPr>
          <a:xfrm>
            <a:off x="615141" y="3404061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Shanawas Ellora</a:t>
            </a:r>
            <a:endParaRPr lang="en-US" sz="1500" dirty="0"/>
          </a:p>
        </p:txBody>
      </p:sp>
      <p:sp>
        <p:nvSpPr>
          <p:cNvPr id="5" name="Text 7"/>
          <p:cNvSpPr txBox="1"/>
          <p:nvPr/>
        </p:nvSpPr>
        <p:spPr>
          <a:xfrm>
            <a:off x="3358341" y="3404061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Aryan 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Kumar Shaw</a:t>
            </a:r>
            <a:endParaRPr lang="en-US" sz="1500" dirty="0"/>
          </a:p>
        </p:txBody>
      </p:sp>
      <p:sp>
        <p:nvSpPr>
          <p:cNvPr id="6" name="Text 8"/>
          <p:cNvSpPr txBox="1"/>
          <p:nvPr/>
        </p:nvSpPr>
        <p:spPr>
          <a:xfrm>
            <a:off x="615141" y="3815541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Kunjal Koul</a:t>
            </a:r>
            <a:endParaRPr lang="en-US" sz="1500" dirty="0"/>
          </a:p>
        </p:txBody>
      </p:sp>
      <p:sp>
        <p:nvSpPr>
          <p:cNvPr id="7" name="Text 9"/>
          <p:cNvSpPr txBox="1"/>
          <p:nvPr/>
        </p:nvSpPr>
        <p:spPr>
          <a:xfrm>
            <a:off x="3358341" y="3815541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Nasreen Shaik</a:t>
            </a:r>
            <a:endParaRPr lang="en-US" sz="1500" dirty="0"/>
          </a:p>
        </p:txBody>
      </p:sp>
      <p:sp>
        <p:nvSpPr>
          <p:cNvPr id="8" name="Text 30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Zidio Development  ·  Project FORESIGHT  ·  Client Engagement Submission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5786526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141</TotalTime>
  <Words>2130</Words>
  <Application>Microsoft Office PowerPoint</Application>
  <PresentationFormat>Widescreen</PresentationFormat>
  <Paragraphs>275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Cambria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DELL</cp:lastModifiedBy>
  <cp:revision>60</cp:revision>
  <dcterms:created xsi:type="dcterms:W3CDTF">2026-09-01T04:39:41Z</dcterms:created>
  <dcterms:modified xsi:type="dcterms:W3CDTF">2026-09-02T06:37:36Z</dcterms:modified>
</cp:coreProperties>
</file>